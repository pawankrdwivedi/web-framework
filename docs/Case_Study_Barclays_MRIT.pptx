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06825744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11E0A1-B5C4-4CCF-B953-0F2037540CA8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72A089-BF27-41DD-B0EF-4885352A47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092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73A2C5F-412D-0D44-9204-D985CF72B03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6769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70E2ED-BD19-F643-1A1C-DF5914377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81742B-0A04-E691-8B1E-2F17A25A54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5B85D-B632-B656-BF4E-3D06F84B8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255D-443E-44DC-8DAE-D4A3B5AF639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51CD91-4D04-EBEE-F7DE-7A98859C1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F4F66E-E581-45B7-3EFA-0EE6FB627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2B81-F012-438F-B116-73529AA98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5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8D4D7-CAB3-3DD1-5048-0800FB165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A7921-52BA-E668-8B5C-2DFC45885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E25D5-3F0C-BFEF-2D4E-4DE375DB5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255D-443E-44DC-8DAE-D4A3B5AF639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FB4EE-8CA1-5836-4283-5F874CCB8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2B08C8-5F40-F3EB-10CC-6DAD54998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2B81-F012-438F-B116-73529AA98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815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95CD21-CF79-9227-3DF1-BAC837BC6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63552F-F5AF-54D9-27F9-C6B3F8356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13A4EF-719E-22EA-C085-AB44AE8E9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255D-443E-44DC-8DAE-D4A3B5AF639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803573-94B4-7C8B-9BE9-35301D1A7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E21409-5224-313A-8E83-261ACE0EA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2B81-F012-438F-B116-73529AA98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939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CA15A-8AA7-67B8-6508-44E38A68C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674C1-F3FC-95E7-365F-73D428B73B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C9050-CD4D-E48B-567A-F40AAA738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CA2DDB-0411-59C6-55FA-5DF520106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255D-443E-44DC-8DAE-D4A3B5AF639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5C1A13-D1D4-A2E2-C3B5-71C44FB98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A369F8-B947-767F-EC6F-9C51441EC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2B81-F012-438F-B116-73529AA98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54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DE71C-364C-08DB-3E62-F179FC430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1060B-CF87-ECE6-5E19-B3B473C26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439FCF-69C8-2E12-ECE2-47BA834921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87927A-0F32-8389-D480-76D0B8E4FB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2A473B-7D3D-7288-BCF4-993CE1E087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04C7BB-E426-3637-327E-52E5D8831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255D-443E-44DC-8DAE-D4A3B5AF639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58A252-8385-0372-8798-A3C25A3CB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302298-12F9-A4B5-5E35-33E9E4BDB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2B81-F012-438F-B116-73529AA98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986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69D2DF-3000-4B12-F378-DC488F65D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706C22-7EB6-65C2-E03E-71366D76E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255D-443E-44DC-8DAE-D4A3B5AF639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3E7CC0-AB90-00A9-98A1-0C24F3225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643415-54EC-4562-A174-8C8F079DB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2B81-F012-438F-B116-73529AA98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552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65054A-E977-C49D-8AD0-B96183599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255D-443E-44DC-8DAE-D4A3B5AF639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457620-D526-A573-340B-4A947B54E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CCDE8-2315-820B-5382-01BC4D178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2B81-F012-438F-B116-73529AA98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6955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54FCF-7A59-0FC1-BA60-A77C54B2B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9A49A-DA42-281B-FC9E-616E0FDAF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61F84A-8EC4-B55A-6D37-622D1DAE3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786D35-6C6E-2BCC-22BE-70DD1A5A7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255D-443E-44DC-8DAE-D4A3B5AF639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486E6F-B228-164D-D546-DAAB7C2D12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913BA-948D-9713-E315-EF4843884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2B81-F012-438F-B116-73529AA98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028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72BDD-5103-D13E-F24A-60BC747C1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5A42B2-D23E-74B5-A642-7D35D456B8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EE819-7C88-E6C9-EF2B-69702C7653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F5CEE-79A3-5F4A-B985-40749A3AA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255D-443E-44DC-8DAE-D4A3B5AF639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C6D684-3287-95A9-38D3-251BF1476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1B0E7C-AB50-70A9-17D5-A2E81A55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2B81-F012-438F-B116-73529AA98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9206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81A29-3950-2DA1-3245-7AAF1159D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966718-CD56-201A-5D4C-FF69AE9664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02D08-0B31-A617-7B37-4BA563A11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255D-443E-44DC-8DAE-D4A3B5AF639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7EFABE-74AB-B50A-4842-F1FBE3889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BB87E-264E-61A8-C1B3-94FF5D7B2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2B81-F012-438F-B116-73529AA98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458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3E052B-C6EB-7968-1863-C486A49BA08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424A8D-5379-A5F4-BCF3-9DEE5388A5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F8617C-56E8-077D-4BD2-0E5129DDD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8255D-443E-44DC-8DAE-D4A3B5AF639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01912-B17C-644B-2129-3010EDC24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EDDC6-6A88-0D25-76D0-641C23884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EA2B81-F012-438F-B116-73529AA98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707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Line Heading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/>
          <p:cNvSpPr/>
          <p:nvPr userDrawn="1"/>
        </p:nvSpPr>
        <p:spPr>
          <a:xfrm>
            <a:off x="3" y="3"/>
            <a:ext cx="12191997" cy="1220880"/>
          </a:xfrm>
          <a:prstGeom prst="roundRect">
            <a:avLst>
              <a:gd name="adj" fmla="val 0"/>
            </a:avLst>
          </a:prstGeom>
          <a:solidFill>
            <a:srgbClr val="284388"/>
          </a:solidFill>
          <a:ln w="6350"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5" name="Rectangle 4"/>
          <p:cNvSpPr/>
          <p:nvPr userDrawn="1"/>
        </p:nvSpPr>
        <p:spPr>
          <a:xfrm flipH="1">
            <a:off x="0" y="299286"/>
            <a:ext cx="132248" cy="622316"/>
          </a:xfrm>
          <a:prstGeom prst="rect">
            <a:avLst/>
          </a:prstGeom>
          <a:solidFill>
            <a:srgbClr val="EAB80E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50B189E0-9048-4562-AFF3-A7E0EA04DD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164319" y="6352033"/>
            <a:ext cx="2743200" cy="366183"/>
          </a:xfrm>
          <a:prstGeom prst="rect">
            <a:avLst/>
          </a:prstGeom>
        </p:spPr>
        <p:txBody>
          <a:bodyPr/>
          <a:lstStyle>
            <a:lvl1pPr>
              <a:defRPr sz="13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algn="r"/>
            <a:fld id="{0FA34452-5C19-486C-9C68-0665044C363F}" type="slidenum">
              <a:rPr lang="en-US" smtClean="0"/>
              <a:pPr algn="r"/>
              <a:t>‹#›</a:t>
            </a:fld>
            <a:endParaRPr lang="en-US" dirty="0"/>
          </a:p>
        </p:txBody>
      </p:sp>
      <p:sp>
        <p:nvSpPr>
          <p:cNvPr id="11" name="Rounded Rectangle 10"/>
          <p:cNvSpPr/>
          <p:nvPr userDrawn="1"/>
        </p:nvSpPr>
        <p:spPr>
          <a:xfrm>
            <a:off x="5718280" y="192788"/>
            <a:ext cx="6372121" cy="5508725"/>
          </a:xfrm>
          <a:prstGeom prst="roundRect">
            <a:avLst>
              <a:gd name="adj" fmla="val 1327"/>
            </a:avLst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3" name="Rounded Rectangle 86">
            <a:extLst>
              <a:ext uri="{FF2B5EF4-FFF2-40B4-BE49-F238E27FC236}">
                <a16:creationId xmlns:a16="http://schemas.microsoft.com/office/drawing/2014/main" id="{C768B813-1FEA-4142-A1F2-ED1C3FA58AE4}"/>
              </a:ext>
            </a:extLst>
          </p:cNvPr>
          <p:cNvSpPr/>
          <p:nvPr userDrawn="1"/>
        </p:nvSpPr>
        <p:spPr>
          <a:xfrm>
            <a:off x="5718279" y="177801"/>
            <a:ext cx="6368965" cy="6051551"/>
          </a:xfrm>
          <a:prstGeom prst="roundRect">
            <a:avLst>
              <a:gd name="adj" fmla="val 1327"/>
            </a:avLst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343952" y="1399118"/>
            <a:ext cx="5269571" cy="4830233"/>
          </a:xfrm>
        </p:spPr>
        <p:txBody>
          <a:bodyPr/>
          <a:lstStyle>
            <a:lvl1pPr marL="78315" indent="0">
              <a:spcBef>
                <a:spcPts val="0"/>
              </a:spcBef>
              <a:spcAft>
                <a:spcPts val="400"/>
              </a:spcAft>
              <a:buNone/>
              <a:defRPr b="1">
                <a:solidFill>
                  <a:schemeClr val="accent5"/>
                </a:solidFill>
                <a:latin typeface="Sitka Subheading" panose="02000505000000020004" pitchFamily="2" charset="0"/>
              </a:defRPr>
            </a:lvl1pPr>
            <a:lvl2pPr marL="228594" indent="-152396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200"/>
            </a:lvl2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 hasCustomPrompt="1"/>
          </p:nvPr>
        </p:nvSpPr>
        <p:spPr>
          <a:xfrm>
            <a:off x="286228" y="299285"/>
            <a:ext cx="5322941" cy="778827"/>
          </a:xfrm>
        </p:spPr>
        <p:txBody>
          <a:bodyPr anchor="ctr">
            <a:normAutofit/>
          </a:bodyPr>
          <a:lstStyle>
            <a:lvl1pPr>
              <a:defRPr sz="2667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</a:t>
            </a:r>
            <a:br>
              <a:rPr lang="en-US" dirty="0"/>
            </a:br>
            <a:r>
              <a:rPr lang="en-US" dirty="0"/>
              <a:t>title style</a:t>
            </a:r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373404" y="107147"/>
            <a:ext cx="5184083" cy="296333"/>
          </a:xfrm>
        </p:spPr>
        <p:txBody>
          <a:bodyPr>
            <a:normAutofit/>
          </a:bodyPr>
          <a:lstStyle>
            <a:lvl1pPr marL="0" indent="0">
              <a:defRPr sz="1400" b="1">
                <a:solidFill>
                  <a:schemeClr val="bg1"/>
                </a:solidFill>
                <a:latin typeface="Sitka Subheading" panose="02000505000000020004" pitchFamily="2" charset="0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24541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C2F48F-46D1-4BC2-903B-21C5EDECD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226785-258D-E0F0-ED8E-C393F72440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3DA166-F426-4081-5949-F8C5190F92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E8255D-443E-44DC-8DAE-D4A3B5AF6399}" type="datetimeFigureOut">
              <a:rPr lang="en-US" smtClean="0"/>
              <a:t>8/12/2026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77A0B-93C0-71D2-7B96-7146F813A5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C43DC-E96D-B87F-1FD3-9831326D9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EA2B81-F012-438F-B116-73529AA989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947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257667" y="1399118"/>
            <a:ext cx="5355856" cy="5109389"/>
          </a:xfrm>
        </p:spPr>
        <p:txBody>
          <a:bodyPr>
            <a:normAutofit/>
          </a:bodyPr>
          <a:lstStyle/>
          <a:p>
            <a:pPr marL="77891"/>
            <a:r>
              <a:rPr lang="en-US" sz="2400" dirty="0"/>
              <a:t>Challenges</a:t>
            </a:r>
          </a:p>
          <a:p>
            <a:pPr lvl="1">
              <a:lnSpc>
                <a:spcPct val="90000"/>
              </a:lnSpc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Fragmented Testing Across Multiple Application Types</a:t>
            </a:r>
          </a:p>
          <a:p>
            <a:pPr lvl="1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Test Fragility &amp; Maintenance Burden</a:t>
            </a:r>
          </a:p>
          <a:p>
            <a:pPr lvl="1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Slow Test Execution &amp; CI/CD Bottleneck</a:t>
            </a:r>
          </a:p>
          <a:p>
            <a:pPr lvl="1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High Onboarding Friction for New Applications</a:t>
            </a:r>
          </a:p>
          <a:p>
            <a:pPr lvl="1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Difficult-to-Implement Cross-Layer Testing</a:t>
            </a:r>
          </a:p>
          <a:p>
            <a:pPr lvl="1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Lack of Standardization &amp; Governance</a:t>
            </a:r>
          </a:p>
          <a:p>
            <a:pPr marL="77891"/>
            <a:r>
              <a:rPr lang="en-US" sz="2400" dirty="0"/>
              <a:t>Solution</a:t>
            </a:r>
          </a:p>
          <a:p>
            <a:pPr lvl="1">
              <a:lnSpc>
                <a:spcPct val="90000"/>
              </a:lnSpc>
            </a:pP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Unified Multi-Layer Testing Framework</a:t>
            </a:r>
          </a:p>
          <a:p>
            <a:pPr lvl="1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Self-Healing &amp; Resilient Test Selectors</a:t>
            </a:r>
          </a:p>
          <a:p>
            <a:pPr lvl="1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 High-Speed Parallel Execution &amp; Network Mocking</a:t>
            </a:r>
          </a:p>
          <a:p>
            <a:pPr lvl="1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Rapid Onboarding Framework for New Applications</a:t>
            </a:r>
          </a:p>
          <a:p>
            <a:pPr lvl="1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End-to-End Cross-Layer Testing</a:t>
            </a:r>
          </a:p>
          <a:p>
            <a:pPr lvl="1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Standardization Through Framework Enforcement</a:t>
            </a:r>
          </a:p>
          <a:p>
            <a:pPr marL="76198" lvl="1" indent="0">
              <a:buNone/>
            </a:pPr>
            <a:r>
              <a:rPr lang="en-US" sz="2400" b="1" dirty="0">
                <a:solidFill>
                  <a:schemeClr val="accent5"/>
                </a:solidFill>
                <a:latin typeface="Sitka Subheading" pitchFamily="2" charset="0"/>
              </a:rPr>
              <a:t>Outcomes</a:t>
            </a:r>
            <a:endParaRPr lang="en-US" sz="2400" dirty="0">
              <a:latin typeface="Sitka Subheading" pitchFamily="2" charset="0"/>
            </a:endParaRPr>
          </a:p>
          <a:p>
            <a:pPr lvl="1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Improved Test Reliability (Pass Ratio increased from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65 % to 90%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1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Faster Test Execution (Improved from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2.1 hrs. to 45 min.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1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Reduced Testing Overhead &amp; Cost (reduced from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40 % to 15%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1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Enhanced Test Coverage (from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50 % to 80 %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1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Enhanced Team Productivity (increased by </a:t>
            </a:r>
            <a:r>
              <a:rPr lang="en-US" sz="1000" b="1" dirty="0">
                <a:latin typeface="Arial" panose="020B0604020202020204" pitchFamily="34" charset="0"/>
                <a:cs typeface="Arial" panose="020B0604020202020204" pitchFamily="34" charset="0"/>
              </a:rPr>
              <a:t>4X</a:t>
            </a:r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lvl="1"/>
            <a:r>
              <a:rPr lang="en-US" sz="1000" dirty="0">
                <a:latin typeface="Arial" panose="020B0604020202020204" pitchFamily="34" charset="0"/>
                <a:cs typeface="Arial" panose="020B0604020202020204" pitchFamily="34" charset="0"/>
              </a:rPr>
              <a:t>Uniformed Metrics and Governance Report across multiple projects.</a:t>
            </a:r>
          </a:p>
        </p:txBody>
      </p:sp>
      <p:sp>
        <p:nvSpPr>
          <p:cNvPr id="1400" name="Title 2"/>
          <p:cNvSpPr txBox="1">
            <a:spLocks noGrp="1"/>
          </p:cNvSpPr>
          <p:nvPr>
            <p:ph type="title"/>
          </p:nvPr>
        </p:nvSpPr>
        <p:spPr>
          <a:xfrm>
            <a:off x="153136" y="349493"/>
            <a:ext cx="5554133" cy="73523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Enterprise Test Automation Framework</a:t>
            </a:r>
            <a:br>
              <a:rPr lang="en-US" sz="2400" b="1" dirty="0"/>
            </a:b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(Web, API, ETL, Database…)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182583" y="63254"/>
            <a:ext cx="5184083" cy="29633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1600" dirty="0"/>
              <a:t>Market Risk Platform for leading European Bank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905BB4-4CFE-9118-82A6-8A9E5D58F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4164" y="5758637"/>
            <a:ext cx="684849" cy="3373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9FAC23-7DCA-B970-0145-6F256339D8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7934" y="5758637"/>
            <a:ext cx="667560" cy="3553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8ADA7EC-D18B-FB43-747A-8AA80A85C8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1704" y="5757007"/>
            <a:ext cx="929229" cy="33736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5B48C3-0200-D39E-130B-BB4B72292A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4387" y="5762942"/>
            <a:ext cx="784455" cy="3526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7F8A776-543E-DF2D-7CB1-5EDDB90146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9252" y="5767583"/>
            <a:ext cx="622105" cy="37326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CA62889-E6A7-23E2-6215-F5A0F80A687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90275" y="5757008"/>
            <a:ext cx="629487" cy="41519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B951FAC-A47C-33AA-A26B-F32C2E411BE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7692" y="5802239"/>
            <a:ext cx="964204" cy="29376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78D8D978-FA84-C689-5D03-E8C8FD5CAA2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201896" y="5802239"/>
            <a:ext cx="867188" cy="374764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3152228B-26BE-8D85-4652-4731265533D4}"/>
              </a:ext>
            </a:extLst>
          </p:cNvPr>
          <p:cNvGrpSpPr/>
          <p:nvPr/>
        </p:nvGrpSpPr>
        <p:grpSpPr>
          <a:xfrm>
            <a:off x="5734164" y="211420"/>
            <a:ext cx="6334920" cy="5464585"/>
            <a:chOff x="342900" y="994410"/>
            <a:chExt cx="8469630" cy="3703320"/>
          </a:xfrm>
        </p:grpSpPr>
        <p:sp>
          <p:nvSpPr>
            <p:cNvPr id="25" name="Shape 5">
              <a:extLst>
                <a:ext uri="{FF2B5EF4-FFF2-40B4-BE49-F238E27FC236}">
                  <a16:creationId xmlns:a16="http://schemas.microsoft.com/office/drawing/2014/main" id="{10BB329B-2725-3516-F481-30BC2A38D2CA}"/>
                </a:ext>
              </a:extLst>
            </p:cNvPr>
            <p:cNvSpPr/>
            <p:nvPr/>
          </p:nvSpPr>
          <p:spPr>
            <a:xfrm>
              <a:off x="342901" y="994410"/>
              <a:ext cx="8457971" cy="99441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E7C7B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6" name="Shape 6">
              <a:extLst>
                <a:ext uri="{FF2B5EF4-FFF2-40B4-BE49-F238E27FC236}">
                  <a16:creationId xmlns:a16="http://schemas.microsoft.com/office/drawing/2014/main" id="{8F286019-CA9A-BAF9-4AA2-937A159A13BF}"/>
                </a:ext>
              </a:extLst>
            </p:cNvPr>
            <p:cNvSpPr/>
            <p:nvPr/>
          </p:nvSpPr>
          <p:spPr>
            <a:xfrm>
              <a:off x="342900" y="994410"/>
              <a:ext cx="3291840" cy="205740"/>
            </a:xfrm>
            <a:prstGeom prst="rect">
              <a:avLst/>
            </a:prstGeom>
            <a:solidFill>
              <a:srgbClr val="0E7C7B"/>
            </a:solidFill>
            <a:ln w="12700">
              <a:solidFill>
                <a:srgbClr val="0E7C7B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7" name="Text 7">
              <a:extLst>
                <a:ext uri="{FF2B5EF4-FFF2-40B4-BE49-F238E27FC236}">
                  <a16:creationId xmlns:a16="http://schemas.microsoft.com/office/drawing/2014/main" id="{10D1F792-BE69-51B3-7A44-5A1F152B684C}"/>
                </a:ext>
              </a:extLst>
            </p:cNvPr>
            <p:cNvSpPr/>
            <p:nvPr/>
          </p:nvSpPr>
          <p:spPr>
            <a:xfrm>
              <a:off x="411480" y="994410"/>
              <a:ext cx="315468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38" b="1" kern="0" spc="15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AUTHORING &amp; DISTRIBUTION</a:t>
              </a:r>
              <a:endParaRPr lang="en-US" sz="638"/>
            </a:p>
          </p:txBody>
        </p:sp>
        <p:sp>
          <p:nvSpPr>
            <p:cNvPr id="28" name="Shape 8">
              <a:extLst>
                <a:ext uri="{FF2B5EF4-FFF2-40B4-BE49-F238E27FC236}">
                  <a16:creationId xmlns:a16="http://schemas.microsoft.com/office/drawing/2014/main" id="{DE3E788E-569A-C4F6-1124-5E3DB40EE952}"/>
                </a:ext>
              </a:extLst>
            </p:cNvPr>
            <p:cNvSpPr/>
            <p:nvPr/>
          </p:nvSpPr>
          <p:spPr>
            <a:xfrm>
              <a:off x="514350" y="1268730"/>
              <a:ext cx="1337310" cy="58293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DBE7"/>
              </a:solidFill>
              <a:prstDash val="solid"/>
            </a:ln>
          </p:spPr>
          <p:txBody>
            <a:bodyPr/>
            <a:lstStyle/>
            <a:p>
              <a:pPr algn="ctr"/>
              <a:endParaRPr lang="en-US" sz="1350" dirty="0"/>
            </a:p>
          </p:txBody>
        </p:sp>
        <p:sp>
          <p:nvSpPr>
            <p:cNvPr id="29" name="Shape 9">
              <a:extLst>
                <a:ext uri="{FF2B5EF4-FFF2-40B4-BE49-F238E27FC236}">
                  <a16:creationId xmlns:a16="http://schemas.microsoft.com/office/drawing/2014/main" id="{F6578E9B-D197-AE87-BE3F-4CAF36D9EB95}"/>
                </a:ext>
              </a:extLst>
            </p:cNvPr>
            <p:cNvSpPr/>
            <p:nvPr/>
          </p:nvSpPr>
          <p:spPr>
            <a:xfrm>
              <a:off x="514350" y="1268730"/>
              <a:ext cx="41148" cy="582930"/>
            </a:xfrm>
            <a:prstGeom prst="rect">
              <a:avLst/>
            </a:prstGeom>
            <a:solidFill>
              <a:srgbClr val="0E7C7B"/>
            </a:solidFill>
            <a:ln w="12700">
              <a:solidFill>
                <a:srgbClr val="0E7C7B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30" name="Text 10">
              <a:extLst>
                <a:ext uri="{FF2B5EF4-FFF2-40B4-BE49-F238E27FC236}">
                  <a16:creationId xmlns:a16="http://schemas.microsoft.com/office/drawing/2014/main" id="{E3AB7FAD-DD25-88A2-C9C5-AF390897DAD9}"/>
                </a:ext>
              </a:extLst>
            </p:cNvPr>
            <p:cNvSpPr/>
            <p:nvPr/>
          </p:nvSpPr>
          <p:spPr>
            <a:xfrm>
              <a:off x="582930" y="1296162"/>
              <a:ext cx="123444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713" b="1" dirty="0">
                  <a:solidFill>
                    <a:srgbClr val="002D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Engineer IDE</a:t>
              </a:r>
              <a:endParaRPr lang="en-US" sz="713" dirty="0"/>
            </a:p>
          </p:txBody>
        </p:sp>
        <p:sp>
          <p:nvSpPr>
            <p:cNvPr id="31" name="Text 11">
              <a:extLst>
                <a:ext uri="{FF2B5EF4-FFF2-40B4-BE49-F238E27FC236}">
                  <a16:creationId xmlns:a16="http://schemas.microsoft.com/office/drawing/2014/main" id="{99F520BD-B7A3-C95F-45D1-E43FAE1C17D1}"/>
                </a:ext>
              </a:extLst>
            </p:cNvPr>
            <p:cNvSpPr/>
            <p:nvPr/>
          </p:nvSpPr>
          <p:spPr>
            <a:xfrm>
              <a:off x="582930" y="1474470"/>
              <a:ext cx="1234440" cy="3497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600" dirty="0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VS Code</a:t>
              </a:r>
              <a:endParaRPr lang="en-US" sz="600" dirty="0"/>
            </a:p>
            <a:p>
              <a:pPr algn="ctr"/>
              <a:r>
                <a:rPr lang="en-US" sz="600" dirty="0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Git + npm + Node 20</a:t>
              </a:r>
              <a:endParaRPr lang="en-US" sz="600" dirty="0"/>
            </a:p>
          </p:txBody>
        </p:sp>
        <p:sp>
          <p:nvSpPr>
            <p:cNvPr id="32" name="Shape 12">
              <a:extLst>
                <a:ext uri="{FF2B5EF4-FFF2-40B4-BE49-F238E27FC236}">
                  <a16:creationId xmlns:a16="http://schemas.microsoft.com/office/drawing/2014/main" id="{50FC3DD2-20CF-862C-AD61-03F62AF848FB}"/>
                </a:ext>
              </a:extLst>
            </p:cNvPr>
            <p:cNvSpPr/>
            <p:nvPr/>
          </p:nvSpPr>
          <p:spPr>
            <a:xfrm>
              <a:off x="1954530" y="1268730"/>
              <a:ext cx="1577340" cy="58293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DBE7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33" name="Shape 13">
              <a:extLst>
                <a:ext uri="{FF2B5EF4-FFF2-40B4-BE49-F238E27FC236}">
                  <a16:creationId xmlns:a16="http://schemas.microsoft.com/office/drawing/2014/main" id="{22B65F47-1CC5-DD4E-ADE4-B911A882DFE6}"/>
                </a:ext>
              </a:extLst>
            </p:cNvPr>
            <p:cNvSpPr/>
            <p:nvPr/>
          </p:nvSpPr>
          <p:spPr>
            <a:xfrm>
              <a:off x="1954530" y="1268730"/>
              <a:ext cx="41148" cy="582930"/>
            </a:xfrm>
            <a:prstGeom prst="rect">
              <a:avLst/>
            </a:prstGeom>
            <a:solidFill>
              <a:srgbClr val="002D72"/>
            </a:solidFill>
            <a:ln w="12700">
              <a:solidFill>
                <a:srgbClr val="002D72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34" name="Text 14">
              <a:extLst>
                <a:ext uri="{FF2B5EF4-FFF2-40B4-BE49-F238E27FC236}">
                  <a16:creationId xmlns:a16="http://schemas.microsoft.com/office/drawing/2014/main" id="{B9222ADE-8F16-34B4-C775-2B67765DE28C}"/>
                </a:ext>
              </a:extLst>
            </p:cNvPr>
            <p:cNvSpPr/>
            <p:nvPr/>
          </p:nvSpPr>
          <p:spPr>
            <a:xfrm>
              <a:off x="2023110" y="1296162"/>
              <a:ext cx="147447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675" b="1" dirty="0" err="1">
                  <a:solidFill>
                    <a:srgbClr val="002D7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qa</a:t>
              </a:r>
              <a:r>
                <a:rPr lang="en-US" sz="675" b="1" dirty="0">
                  <a:solidFill>
                    <a:srgbClr val="002D72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-core-framework</a:t>
              </a:r>
              <a:endParaRPr lang="en-US" sz="675" dirty="0"/>
            </a:p>
          </p:txBody>
        </p:sp>
        <p:sp>
          <p:nvSpPr>
            <p:cNvPr id="35" name="Text 15">
              <a:extLst>
                <a:ext uri="{FF2B5EF4-FFF2-40B4-BE49-F238E27FC236}">
                  <a16:creationId xmlns:a16="http://schemas.microsoft.com/office/drawing/2014/main" id="{350EB147-71CA-D10A-25AE-64BA13E8EB2E}"/>
                </a:ext>
              </a:extLst>
            </p:cNvPr>
            <p:cNvSpPr/>
            <p:nvPr/>
          </p:nvSpPr>
          <p:spPr>
            <a:xfrm>
              <a:off x="2023110" y="1474470"/>
              <a:ext cx="1474470" cy="3497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600" dirty="0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Versioned Core engine</a:t>
              </a:r>
              <a:endParaRPr lang="en-US" sz="600" dirty="0"/>
            </a:p>
            <a:p>
              <a:pPr algn="ctr"/>
              <a:r>
                <a:rPr lang="en-US" sz="600" dirty="0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@qe-framework-core</a:t>
              </a:r>
              <a:endParaRPr lang="en-US" sz="600" dirty="0"/>
            </a:p>
          </p:txBody>
        </p:sp>
        <p:sp>
          <p:nvSpPr>
            <p:cNvPr id="36" name="Shape 16">
              <a:extLst>
                <a:ext uri="{FF2B5EF4-FFF2-40B4-BE49-F238E27FC236}">
                  <a16:creationId xmlns:a16="http://schemas.microsoft.com/office/drawing/2014/main" id="{020B01AC-164C-C449-DAFE-47621D62DC70}"/>
                </a:ext>
              </a:extLst>
            </p:cNvPr>
            <p:cNvSpPr/>
            <p:nvPr/>
          </p:nvSpPr>
          <p:spPr>
            <a:xfrm>
              <a:off x="3634740" y="1268730"/>
              <a:ext cx="1474470" cy="58293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DBE7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37" name="Shape 17">
              <a:extLst>
                <a:ext uri="{FF2B5EF4-FFF2-40B4-BE49-F238E27FC236}">
                  <a16:creationId xmlns:a16="http://schemas.microsoft.com/office/drawing/2014/main" id="{99EB2C7D-9D6B-86DB-D178-7CEADB815158}"/>
                </a:ext>
              </a:extLst>
            </p:cNvPr>
            <p:cNvSpPr/>
            <p:nvPr/>
          </p:nvSpPr>
          <p:spPr>
            <a:xfrm>
              <a:off x="3634740" y="1268730"/>
              <a:ext cx="41148" cy="582930"/>
            </a:xfrm>
            <a:prstGeom prst="rect">
              <a:avLst/>
            </a:prstGeom>
            <a:solidFill>
              <a:srgbClr val="C99A06"/>
            </a:solidFill>
            <a:ln w="12700">
              <a:solidFill>
                <a:srgbClr val="C99A06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38" name="Text 18">
              <a:extLst>
                <a:ext uri="{FF2B5EF4-FFF2-40B4-BE49-F238E27FC236}">
                  <a16:creationId xmlns:a16="http://schemas.microsoft.com/office/drawing/2014/main" id="{93EF7B74-86D2-18C2-688C-6256734418AE}"/>
                </a:ext>
              </a:extLst>
            </p:cNvPr>
            <p:cNvSpPr/>
            <p:nvPr/>
          </p:nvSpPr>
          <p:spPr>
            <a:xfrm>
              <a:off x="3703320" y="1296162"/>
              <a:ext cx="137160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713" b="1" dirty="0">
                  <a:solidFill>
                    <a:srgbClr val="002D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Private npm Registry</a:t>
              </a:r>
              <a:endParaRPr lang="en-US" sz="713" dirty="0"/>
            </a:p>
          </p:txBody>
        </p:sp>
        <p:sp>
          <p:nvSpPr>
            <p:cNvPr id="39" name="Text 19">
              <a:extLst>
                <a:ext uri="{FF2B5EF4-FFF2-40B4-BE49-F238E27FC236}">
                  <a16:creationId xmlns:a16="http://schemas.microsoft.com/office/drawing/2014/main" id="{F67D43DD-FB2D-05C4-04C0-94821FFB04EE}"/>
                </a:ext>
              </a:extLst>
            </p:cNvPr>
            <p:cNvSpPr/>
            <p:nvPr/>
          </p:nvSpPr>
          <p:spPr>
            <a:xfrm>
              <a:off x="3703319" y="1512661"/>
              <a:ext cx="1371600" cy="3115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600" dirty="0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Verdaccio / Artifactory /</a:t>
              </a:r>
              <a:endParaRPr lang="en-US" sz="600" dirty="0"/>
            </a:p>
            <a:p>
              <a:pPr algn="ctr"/>
              <a:r>
                <a:rPr lang="en-US" sz="600" dirty="0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Azure Artifacts / GH Packages</a:t>
              </a:r>
              <a:endParaRPr lang="en-US" sz="600" dirty="0"/>
            </a:p>
          </p:txBody>
        </p:sp>
        <p:sp>
          <p:nvSpPr>
            <p:cNvPr id="40" name="Shape 20">
              <a:extLst>
                <a:ext uri="{FF2B5EF4-FFF2-40B4-BE49-F238E27FC236}">
                  <a16:creationId xmlns:a16="http://schemas.microsoft.com/office/drawing/2014/main" id="{AB86420C-C6BA-1A50-002C-0B60BA7B8316}"/>
                </a:ext>
              </a:extLst>
            </p:cNvPr>
            <p:cNvSpPr/>
            <p:nvPr/>
          </p:nvSpPr>
          <p:spPr>
            <a:xfrm>
              <a:off x="5212080" y="1268730"/>
              <a:ext cx="2434590" cy="58293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6F40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1" name="Shape 21">
              <a:extLst>
                <a:ext uri="{FF2B5EF4-FFF2-40B4-BE49-F238E27FC236}">
                  <a16:creationId xmlns:a16="http://schemas.microsoft.com/office/drawing/2014/main" id="{6CD02FA0-5942-BF43-15C4-AEB856515AD4}"/>
                </a:ext>
              </a:extLst>
            </p:cNvPr>
            <p:cNvSpPr/>
            <p:nvPr/>
          </p:nvSpPr>
          <p:spPr>
            <a:xfrm>
              <a:off x="5212080" y="1268730"/>
              <a:ext cx="41148" cy="582930"/>
            </a:xfrm>
            <a:prstGeom prst="rect">
              <a:avLst/>
            </a:prstGeom>
            <a:solidFill>
              <a:srgbClr val="2E6F40"/>
            </a:solidFill>
            <a:ln w="12700">
              <a:solidFill>
                <a:srgbClr val="2E6F40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2" name="Text 22">
              <a:extLst>
                <a:ext uri="{FF2B5EF4-FFF2-40B4-BE49-F238E27FC236}">
                  <a16:creationId xmlns:a16="http://schemas.microsoft.com/office/drawing/2014/main" id="{E8FAA1CA-3D5D-EAB0-D08A-816A69068CE1}"/>
                </a:ext>
              </a:extLst>
            </p:cNvPr>
            <p:cNvSpPr/>
            <p:nvPr/>
          </p:nvSpPr>
          <p:spPr>
            <a:xfrm>
              <a:off x="5280660" y="1296162"/>
              <a:ext cx="2331720" cy="15087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713" b="1" dirty="0">
                  <a:solidFill>
                    <a:srgbClr val="002D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App Repos  (one per application)</a:t>
              </a:r>
              <a:endParaRPr lang="en-US" sz="713" dirty="0"/>
            </a:p>
          </p:txBody>
        </p:sp>
        <p:sp>
          <p:nvSpPr>
            <p:cNvPr id="43" name="Text 23">
              <a:extLst>
                <a:ext uri="{FF2B5EF4-FFF2-40B4-BE49-F238E27FC236}">
                  <a16:creationId xmlns:a16="http://schemas.microsoft.com/office/drawing/2014/main" id="{1CB192DF-6A13-F8D8-31D6-41482BCB75D7}"/>
                </a:ext>
              </a:extLst>
            </p:cNvPr>
            <p:cNvSpPr/>
            <p:nvPr/>
          </p:nvSpPr>
          <p:spPr>
            <a:xfrm>
              <a:off x="5280660" y="1460754"/>
              <a:ext cx="2297430" cy="1234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dirty="0" err="1">
                  <a:solidFill>
                    <a:srgbClr val="1A1F3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qa</a:t>
              </a:r>
              <a:r>
                <a:rPr lang="en-US" sz="600" dirty="0">
                  <a:solidFill>
                    <a:srgbClr val="1A1F3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-risk-desktop-tests   </a:t>
              </a:r>
              <a:endParaRPr lang="en-US" sz="600" dirty="0"/>
            </a:p>
          </p:txBody>
        </p:sp>
        <p:sp>
          <p:nvSpPr>
            <p:cNvPr id="44" name="Text 24">
              <a:extLst>
                <a:ext uri="{FF2B5EF4-FFF2-40B4-BE49-F238E27FC236}">
                  <a16:creationId xmlns:a16="http://schemas.microsoft.com/office/drawing/2014/main" id="{7FC40DAC-F55D-90E7-298E-834B9120BBF3}"/>
                </a:ext>
              </a:extLst>
            </p:cNvPr>
            <p:cNvSpPr/>
            <p:nvPr/>
          </p:nvSpPr>
          <p:spPr>
            <a:xfrm>
              <a:off x="5280660" y="1584198"/>
              <a:ext cx="2297430" cy="1234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dirty="0" err="1">
                  <a:solidFill>
                    <a:srgbClr val="1A1F3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qa</a:t>
              </a:r>
              <a:r>
                <a:rPr lang="en-US" sz="600" dirty="0">
                  <a:solidFill>
                    <a:srgbClr val="1A1F3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-adjustments-tests</a:t>
              </a:r>
              <a:endParaRPr lang="en-US" sz="600" dirty="0"/>
            </a:p>
          </p:txBody>
        </p:sp>
        <p:sp>
          <p:nvSpPr>
            <p:cNvPr id="45" name="Text 25">
              <a:extLst>
                <a:ext uri="{FF2B5EF4-FFF2-40B4-BE49-F238E27FC236}">
                  <a16:creationId xmlns:a16="http://schemas.microsoft.com/office/drawing/2014/main" id="{208BA76C-3D9D-F801-C918-16CB9231292C}"/>
                </a:ext>
              </a:extLst>
            </p:cNvPr>
            <p:cNvSpPr/>
            <p:nvPr/>
          </p:nvSpPr>
          <p:spPr>
            <a:xfrm>
              <a:off x="5280660" y="1707642"/>
              <a:ext cx="2297430" cy="1234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dirty="0" err="1">
                  <a:solidFill>
                    <a:srgbClr val="1A1F3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qa</a:t>
              </a:r>
              <a:r>
                <a:rPr lang="en-US" sz="600" dirty="0">
                  <a:solidFill>
                    <a:srgbClr val="1A1F36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-analytics-dash-tests</a:t>
              </a:r>
              <a:endParaRPr lang="en-US" sz="600" dirty="0"/>
            </a:p>
          </p:txBody>
        </p:sp>
        <p:sp>
          <p:nvSpPr>
            <p:cNvPr id="46" name="Shape 26">
              <a:extLst>
                <a:ext uri="{FF2B5EF4-FFF2-40B4-BE49-F238E27FC236}">
                  <a16:creationId xmlns:a16="http://schemas.microsoft.com/office/drawing/2014/main" id="{ABBF5237-A4A3-787F-AF11-50A778CD2389}"/>
                </a:ext>
              </a:extLst>
            </p:cNvPr>
            <p:cNvSpPr/>
            <p:nvPr/>
          </p:nvSpPr>
          <p:spPr>
            <a:xfrm>
              <a:off x="7749540" y="1268730"/>
              <a:ext cx="1028700" cy="582930"/>
            </a:xfrm>
            <a:prstGeom prst="rect">
              <a:avLst/>
            </a:prstGeom>
            <a:solidFill>
              <a:srgbClr val="F8F9FC"/>
            </a:solidFill>
            <a:ln w="6350">
              <a:solidFill>
                <a:srgbClr val="1A1F36"/>
              </a:solidFill>
              <a:prstDash val="dash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7" name="Text 27">
              <a:extLst>
                <a:ext uri="{FF2B5EF4-FFF2-40B4-BE49-F238E27FC236}">
                  <a16:creationId xmlns:a16="http://schemas.microsoft.com/office/drawing/2014/main" id="{A9775414-D76E-F9D9-FBC0-3F5274871D9D}"/>
                </a:ext>
              </a:extLst>
            </p:cNvPr>
            <p:cNvSpPr/>
            <p:nvPr/>
          </p:nvSpPr>
          <p:spPr>
            <a:xfrm>
              <a:off x="7783830" y="1289304"/>
              <a:ext cx="960120" cy="1234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500" b="1" kern="0" spc="75" dirty="0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INSIDE EACH APP REPO</a:t>
              </a:r>
              <a:endParaRPr lang="en-US" sz="500" dirty="0"/>
            </a:p>
          </p:txBody>
        </p:sp>
        <p:sp>
          <p:nvSpPr>
            <p:cNvPr id="48" name="Shape 28">
              <a:extLst>
                <a:ext uri="{FF2B5EF4-FFF2-40B4-BE49-F238E27FC236}">
                  <a16:creationId xmlns:a16="http://schemas.microsoft.com/office/drawing/2014/main" id="{90A54C79-C34E-7951-F5E0-FA0944AFA209}"/>
                </a:ext>
              </a:extLst>
            </p:cNvPr>
            <p:cNvSpPr/>
            <p:nvPr/>
          </p:nvSpPr>
          <p:spPr>
            <a:xfrm>
              <a:off x="7804404" y="1433322"/>
              <a:ext cx="918972" cy="1097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E7C7B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49" name="Text 29">
              <a:extLst>
                <a:ext uri="{FF2B5EF4-FFF2-40B4-BE49-F238E27FC236}">
                  <a16:creationId xmlns:a16="http://schemas.microsoft.com/office/drawing/2014/main" id="{614F94F5-83A8-136E-315A-186216AA8692}"/>
                </a:ext>
              </a:extLst>
            </p:cNvPr>
            <p:cNvSpPr/>
            <p:nvPr/>
          </p:nvSpPr>
          <p:spPr>
            <a:xfrm>
              <a:off x="7804404" y="1433322"/>
              <a:ext cx="918972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0E7C7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Business</a:t>
              </a:r>
              <a:endParaRPr lang="en-US" sz="600"/>
            </a:p>
          </p:txBody>
        </p:sp>
        <p:sp>
          <p:nvSpPr>
            <p:cNvPr id="50" name="Shape 30">
              <a:extLst>
                <a:ext uri="{FF2B5EF4-FFF2-40B4-BE49-F238E27FC236}">
                  <a16:creationId xmlns:a16="http://schemas.microsoft.com/office/drawing/2014/main" id="{0D527B05-7DF0-E361-21C6-275A36B6D4C9}"/>
                </a:ext>
              </a:extLst>
            </p:cNvPr>
            <p:cNvSpPr/>
            <p:nvPr/>
          </p:nvSpPr>
          <p:spPr>
            <a:xfrm>
              <a:off x="7804404" y="1563624"/>
              <a:ext cx="918972" cy="1097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99A06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1" name="Text 31">
              <a:extLst>
                <a:ext uri="{FF2B5EF4-FFF2-40B4-BE49-F238E27FC236}">
                  <a16:creationId xmlns:a16="http://schemas.microsoft.com/office/drawing/2014/main" id="{0B67816E-B55B-85DE-5572-234BF9435200}"/>
                </a:ext>
              </a:extLst>
            </p:cNvPr>
            <p:cNvSpPr/>
            <p:nvPr/>
          </p:nvSpPr>
          <p:spPr>
            <a:xfrm>
              <a:off x="7804404" y="1563624"/>
              <a:ext cx="918972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C99A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App</a:t>
              </a:r>
              <a:endParaRPr lang="en-US" sz="600"/>
            </a:p>
          </p:txBody>
        </p:sp>
        <p:sp>
          <p:nvSpPr>
            <p:cNvPr id="52" name="Shape 32">
              <a:extLst>
                <a:ext uri="{FF2B5EF4-FFF2-40B4-BE49-F238E27FC236}">
                  <a16:creationId xmlns:a16="http://schemas.microsoft.com/office/drawing/2014/main" id="{90B9CED2-E6B6-5FCD-F55B-EC8CC78CA3E5}"/>
                </a:ext>
              </a:extLst>
            </p:cNvPr>
            <p:cNvSpPr/>
            <p:nvPr/>
          </p:nvSpPr>
          <p:spPr>
            <a:xfrm>
              <a:off x="7804404" y="1693926"/>
              <a:ext cx="918972" cy="109728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D72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3" name="Text 33">
              <a:extLst>
                <a:ext uri="{FF2B5EF4-FFF2-40B4-BE49-F238E27FC236}">
                  <a16:creationId xmlns:a16="http://schemas.microsoft.com/office/drawing/2014/main" id="{21590F8F-AA30-B56F-3ACA-B422D26D11EA}"/>
                </a:ext>
              </a:extLst>
            </p:cNvPr>
            <p:cNvSpPr/>
            <p:nvPr/>
          </p:nvSpPr>
          <p:spPr>
            <a:xfrm>
              <a:off x="7804404" y="1693926"/>
              <a:ext cx="918972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00" b="1">
                  <a:solidFill>
                    <a:srgbClr val="002D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Core (npm)</a:t>
              </a:r>
              <a:endParaRPr lang="en-US" sz="600"/>
            </a:p>
          </p:txBody>
        </p:sp>
        <p:sp>
          <p:nvSpPr>
            <p:cNvPr id="54" name="Shape 34">
              <a:extLst>
                <a:ext uri="{FF2B5EF4-FFF2-40B4-BE49-F238E27FC236}">
                  <a16:creationId xmlns:a16="http://schemas.microsoft.com/office/drawing/2014/main" id="{FFB94429-3198-D559-47AA-F46DC9F94F9D}"/>
                </a:ext>
              </a:extLst>
            </p:cNvPr>
            <p:cNvSpPr/>
            <p:nvPr/>
          </p:nvSpPr>
          <p:spPr>
            <a:xfrm>
              <a:off x="1851660" y="1556766"/>
              <a:ext cx="102870" cy="0"/>
            </a:xfrm>
            <a:prstGeom prst="line">
              <a:avLst/>
            </a:prstGeom>
            <a:noFill/>
            <a:ln w="12700">
              <a:solidFill>
                <a:srgbClr val="1A1F3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5" name="Shape 35">
              <a:extLst>
                <a:ext uri="{FF2B5EF4-FFF2-40B4-BE49-F238E27FC236}">
                  <a16:creationId xmlns:a16="http://schemas.microsoft.com/office/drawing/2014/main" id="{4BA7E4E0-83CD-FB72-D7E4-4C1ED485D303}"/>
                </a:ext>
              </a:extLst>
            </p:cNvPr>
            <p:cNvSpPr/>
            <p:nvPr/>
          </p:nvSpPr>
          <p:spPr>
            <a:xfrm>
              <a:off x="3531870" y="1556766"/>
              <a:ext cx="102870" cy="0"/>
            </a:xfrm>
            <a:prstGeom prst="line">
              <a:avLst/>
            </a:prstGeom>
            <a:noFill/>
            <a:ln w="12700">
              <a:solidFill>
                <a:srgbClr val="1A1F3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6" name="Shape 36">
              <a:extLst>
                <a:ext uri="{FF2B5EF4-FFF2-40B4-BE49-F238E27FC236}">
                  <a16:creationId xmlns:a16="http://schemas.microsoft.com/office/drawing/2014/main" id="{E426CD74-F1EF-D935-C21E-4BD2DF32DFB4}"/>
                </a:ext>
              </a:extLst>
            </p:cNvPr>
            <p:cNvSpPr/>
            <p:nvPr/>
          </p:nvSpPr>
          <p:spPr>
            <a:xfrm>
              <a:off x="5109210" y="1556766"/>
              <a:ext cx="102870" cy="0"/>
            </a:xfrm>
            <a:prstGeom prst="line">
              <a:avLst/>
            </a:prstGeom>
            <a:noFill/>
            <a:ln w="12700">
              <a:solidFill>
                <a:srgbClr val="1A1F3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7" name="Shape 37">
              <a:extLst>
                <a:ext uri="{FF2B5EF4-FFF2-40B4-BE49-F238E27FC236}">
                  <a16:creationId xmlns:a16="http://schemas.microsoft.com/office/drawing/2014/main" id="{9868535F-1871-EDAC-CCF0-8EA425147E3C}"/>
                </a:ext>
              </a:extLst>
            </p:cNvPr>
            <p:cNvSpPr/>
            <p:nvPr/>
          </p:nvSpPr>
          <p:spPr>
            <a:xfrm>
              <a:off x="342901" y="2057400"/>
              <a:ext cx="8457971" cy="106299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D72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8" name="Shape 38">
              <a:extLst>
                <a:ext uri="{FF2B5EF4-FFF2-40B4-BE49-F238E27FC236}">
                  <a16:creationId xmlns:a16="http://schemas.microsoft.com/office/drawing/2014/main" id="{D42A09D9-C299-BFDE-5410-BD6077845752}"/>
                </a:ext>
              </a:extLst>
            </p:cNvPr>
            <p:cNvSpPr/>
            <p:nvPr/>
          </p:nvSpPr>
          <p:spPr>
            <a:xfrm>
              <a:off x="342900" y="2057400"/>
              <a:ext cx="3291840" cy="205740"/>
            </a:xfrm>
            <a:prstGeom prst="rect">
              <a:avLst/>
            </a:prstGeom>
            <a:solidFill>
              <a:srgbClr val="002D72"/>
            </a:solidFill>
            <a:ln w="12700">
              <a:solidFill>
                <a:srgbClr val="002D72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59" name="Text 39">
              <a:extLst>
                <a:ext uri="{FF2B5EF4-FFF2-40B4-BE49-F238E27FC236}">
                  <a16:creationId xmlns:a16="http://schemas.microsoft.com/office/drawing/2014/main" id="{3BD63752-029A-8508-54AC-C45F232792A4}"/>
                </a:ext>
              </a:extLst>
            </p:cNvPr>
            <p:cNvSpPr/>
            <p:nvPr/>
          </p:nvSpPr>
          <p:spPr>
            <a:xfrm>
              <a:off x="411480" y="2057400"/>
              <a:ext cx="315468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38" b="1" kern="0" spc="15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EXECUTION  ·  LOCAL + CI PIPELINE</a:t>
              </a:r>
              <a:endParaRPr lang="en-US" sz="638"/>
            </a:p>
          </p:txBody>
        </p:sp>
        <p:sp>
          <p:nvSpPr>
            <p:cNvPr id="60" name="Shape 40">
              <a:extLst>
                <a:ext uri="{FF2B5EF4-FFF2-40B4-BE49-F238E27FC236}">
                  <a16:creationId xmlns:a16="http://schemas.microsoft.com/office/drawing/2014/main" id="{DCBEDDDA-7C34-8F9F-3FCE-0C870D23D9B6}"/>
                </a:ext>
              </a:extLst>
            </p:cNvPr>
            <p:cNvSpPr/>
            <p:nvPr/>
          </p:nvSpPr>
          <p:spPr>
            <a:xfrm>
              <a:off x="514350" y="2331720"/>
              <a:ext cx="4011930" cy="720090"/>
            </a:xfrm>
            <a:prstGeom prst="rect">
              <a:avLst/>
            </a:prstGeom>
            <a:solidFill>
              <a:srgbClr val="F8F9FC"/>
            </a:solidFill>
            <a:ln w="6350">
              <a:solidFill>
                <a:srgbClr val="0E7C7B"/>
              </a:solidFill>
              <a:prstDash val="dash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1" name="Text 41">
              <a:extLst>
                <a:ext uri="{FF2B5EF4-FFF2-40B4-BE49-F238E27FC236}">
                  <a16:creationId xmlns:a16="http://schemas.microsoft.com/office/drawing/2014/main" id="{3E1D79B4-9827-B7BF-99D9-D5E937A9F4F4}"/>
                </a:ext>
              </a:extLst>
            </p:cNvPr>
            <p:cNvSpPr/>
            <p:nvPr/>
          </p:nvSpPr>
          <p:spPr>
            <a:xfrm>
              <a:off x="582930" y="2359152"/>
              <a:ext cx="387477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 b="1" kern="0" spc="150">
                  <a:solidFill>
                    <a:srgbClr val="0E7C7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LOCAL DEVELOPER MODE</a:t>
              </a:r>
              <a:endParaRPr lang="en-US" sz="563"/>
            </a:p>
          </p:txBody>
        </p:sp>
        <p:sp>
          <p:nvSpPr>
            <p:cNvPr id="62" name="Shape 42">
              <a:extLst>
                <a:ext uri="{FF2B5EF4-FFF2-40B4-BE49-F238E27FC236}">
                  <a16:creationId xmlns:a16="http://schemas.microsoft.com/office/drawing/2014/main" id="{DD04D36B-9CF5-6213-A6AA-739F141DFB89}"/>
                </a:ext>
              </a:extLst>
            </p:cNvPr>
            <p:cNvSpPr/>
            <p:nvPr/>
          </p:nvSpPr>
          <p:spPr>
            <a:xfrm>
              <a:off x="617220" y="2537460"/>
              <a:ext cx="910400" cy="27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E7C7B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63" name="Text 43">
              <a:extLst>
                <a:ext uri="{FF2B5EF4-FFF2-40B4-BE49-F238E27FC236}">
                  <a16:creationId xmlns:a16="http://schemas.microsoft.com/office/drawing/2014/main" id="{28A658D3-EB73-D8B1-8714-D62BEC3FF5B3}"/>
                </a:ext>
              </a:extLst>
            </p:cNvPr>
            <p:cNvSpPr/>
            <p:nvPr/>
          </p:nvSpPr>
          <p:spPr>
            <a:xfrm>
              <a:off x="617220" y="2537460"/>
              <a:ext cx="910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713" b="1" dirty="0">
                  <a:solidFill>
                    <a:srgbClr val="0E7C7B"/>
                  </a:solidFill>
                  <a:latin typeface="Consolas" pitchFamily="34" charset="0"/>
                  <a:ea typeface="Consolas" pitchFamily="34" charset="-122"/>
                  <a:cs typeface="Consolas" pitchFamily="34" charset="-120"/>
                </a:rPr>
                <a:t>npm test</a:t>
              </a:r>
              <a:endParaRPr lang="en-US" sz="713" dirty="0"/>
            </a:p>
          </p:txBody>
        </p:sp>
        <p:sp>
          <p:nvSpPr>
            <p:cNvPr id="1344" name="Shape 44">
              <a:extLst>
                <a:ext uri="{FF2B5EF4-FFF2-40B4-BE49-F238E27FC236}">
                  <a16:creationId xmlns:a16="http://schemas.microsoft.com/office/drawing/2014/main" id="{7ABD2AD8-0A43-5526-A5BB-5D4B50CF7E0D}"/>
                </a:ext>
              </a:extLst>
            </p:cNvPr>
            <p:cNvSpPr/>
            <p:nvPr/>
          </p:nvSpPr>
          <p:spPr>
            <a:xfrm>
              <a:off x="1527620" y="2674620"/>
              <a:ext cx="54864" cy="0"/>
            </a:xfrm>
            <a:prstGeom prst="line">
              <a:avLst/>
            </a:prstGeom>
            <a:noFill/>
            <a:ln w="12700">
              <a:solidFill>
                <a:srgbClr val="1A1F3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45" name="Shape 45">
              <a:extLst>
                <a:ext uri="{FF2B5EF4-FFF2-40B4-BE49-F238E27FC236}">
                  <a16:creationId xmlns:a16="http://schemas.microsoft.com/office/drawing/2014/main" id="{42B8B4F4-7D4B-2E7E-DFCF-A05C38A0A8D5}"/>
                </a:ext>
              </a:extLst>
            </p:cNvPr>
            <p:cNvSpPr/>
            <p:nvPr/>
          </p:nvSpPr>
          <p:spPr>
            <a:xfrm>
              <a:off x="1582483" y="2537460"/>
              <a:ext cx="910400" cy="27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D72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46" name="Text 46">
              <a:extLst>
                <a:ext uri="{FF2B5EF4-FFF2-40B4-BE49-F238E27FC236}">
                  <a16:creationId xmlns:a16="http://schemas.microsoft.com/office/drawing/2014/main" id="{DEC3DC46-B2F4-3EB3-CD12-633615E4BC8F}"/>
                </a:ext>
              </a:extLst>
            </p:cNvPr>
            <p:cNvSpPr/>
            <p:nvPr/>
          </p:nvSpPr>
          <p:spPr>
            <a:xfrm>
              <a:off x="1582483" y="2537460"/>
              <a:ext cx="910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713" b="1" dirty="0">
                  <a:solidFill>
                    <a:srgbClr val="002D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Cucumber-JS</a:t>
              </a:r>
              <a:endParaRPr lang="en-US" sz="713" dirty="0"/>
            </a:p>
          </p:txBody>
        </p:sp>
        <p:sp>
          <p:nvSpPr>
            <p:cNvPr id="1347" name="Shape 47">
              <a:extLst>
                <a:ext uri="{FF2B5EF4-FFF2-40B4-BE49-F238E27FC236}">
                  <a16:creationId xmlns:a16="http://schemas.microsoft.com/office/drawing/2014/main" id="{20310B5B-1D04-02E3-41C5-468B7B962CB0}"/>
                </a:ext>
              </a:extLst>
            </p:cNvPr>
            <p:cNvSpPr/>
            <p:nvPr/>
          </p:nvSpPr>
          <p:spPr>
            <a:xfrm>
              <a:off x="2492883" y="2674620"/>
              <a:ext cx="54864" cy="0"/>
            </a:xfrm>
            <a:prstGeom prst="line">
              <a:avLst/>
            </a:prstGeom>
            <a:noFill/>
            <a:ln w="12700">
              <a:solidFill>
                <a:srgbClr val="1A1F3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48" name="Shape 48">
              <a:extLst>
                <a:ext uri="{FF2B5EF4-FFF2-40B4-BE49-F238E27FC236}">
                  <a16:creationId xmlns:a16="http://schemas.microsoft.com/office/drawing/2014/main" id="{DF1C98C9-E5A6-426C-6F80-B2EB65970971}"/>
                </a:ext>
              </a:extLst>
            </p:cNvPr>
            <p:cNvSpPr/>
            <p:nvPr/>
          </p:nvSpPr>
          <p:spPr>
            <a:xfrm>
              <a:off x="2547747" y="2537460"/>
              <a:ext cx="910400" cy="27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D72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49" name="Text 49">
              <a:extLst>
                <a:ext uri="{FF2B5EF4-FFF2-40B4-BE49-F238E27FC236}">
                  <a16:creationId xmlns:a16="http://schemas.microsoft.com/office/drawing/2014/main" id="{C022528A-BE5A-65E2-1DC8-7FE6ECE680A7}"/>
                </a:ext>
              </a:extLst>
            </p:cNvPr>
            <p:cNvSpPr/>
            <p:nvPr/>
          </p:nvSpPr>
          <p:spPr>
            <a:xfrm>
              <a:off x="2547747" y="2537460"/>
              <a:ext cx="910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713" b="1" dirty="0">
                  <a:solidFill>
                    <a:srgbClr val="002D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Playwright</a:t>
              </a:r>
              <a:endParaRPr lang="en-US" sz="713" dirty="0"/>
            </a:p>
          </p:txBody>
        </p:sp>
        <p:sp>
          <p:nvSpPr>
            <p:cNvPr id="1350" name="Shape 50">
              <a:extLst>
                <a:ext uri="{FF2B5EF4-FFF2-40B4-BE49-F238E27FC236}">
                  <a16:creationId xmlns:a16="http://schemas.microsoft.com/office/drawing/2014/main" id="{4627C2E2-7828-9A5A-944B-AD1A3CB836E2}"/>
                </a:ext>
              </a:extLst>
            </p:cNvPr>
            <p:cNvSpPr/>
            <p:nvPr/>
          </p:nvSpPr>
          <p:spPr>
            <a:xfrm>
              <a:off x="3458147" y="2674620"/>
              <a:ext cx="54864" cy="0"/>
            </a:xfrm>
            <a:prstGeom prst="line">
              <a:avLst/>
            </a:prstGeom>
            <a:noFill/>
            <a:ln w="12700">
              <a:solidFill>
                <a:srgbClr val="1A1F3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51" name="Shape 51">
              <a:extLst>
                <a:ext uri="{FF2B5EF4-FFF2-40B4-BE49-F238E27FC236}">
                  <a16:creationId xmlns:a16="http://schemas.microsoft.com/office/drawing/2014/main" id="{A646C216-C7B0-1EAF-D5E7-F3B8991DEFB0}"/>
                </a:ext>
              </a:extLst>
            </p:cNvPr>
            <p:cNvSpPr/>
            <p:nvPr/>
          </p:nvSpPr>
          <p:spPr>
            <a:xfrm>
              <a:off x="3513010" y="2537460"/>
              <a:ext cx="910400" cy="27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D72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52" name="Text 52">
              <a:extLst>
                <a:ext uri="{FF2B5EF4-FFF2-40B4-BE49-F238E27FC236}">
                  <a16:creationId xmlns:a16="http://schemas.microsoft.com/office/drawing/2014/main" id="{218E631D-225B-7A38-A75B-0597C8E2318D}"/>
                </a:ext>
              </a:extLst>
            </p:cNvPr>
            <p:cNvSpPr/>
            <p:nvPr/>
          </p:nvSpPr>
          <p:spPr>
            <a:xfrm>
              <a:off x="3513010" y="2537460"/>
              <a:ext cx="9104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713" b="1">
                  <a:solidFill>
                    <a:srgbClr val="002D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Chromium</a:t>
              </a:r>
              <a:endParaRPr lang="en-US" sz="713"/>
            </a:p>
          </p:txBody>
        </p:sp>
        <p:sp>
          <p:nvSpPr>
            <p:cNvPr id="1353" name="Text 53">
              <a:extLst>
                <a:ext uri="{FF2B5EF4-FFF2-40B4-BE49-F238E27FC236}">
                  <a16:creationId xmlns:a16="http://schemas.microsoft.com/office/drawing/2014/main" id="{8FC2E0BF-33D4-7F21-F89E-F70389619046}"/>
                </a:ext>
              </a:extLst>
            </p:cNvPr>
            <p:cNvSpPr/>
            <p:nvPr/>
          </p:nvSpPr>
          <p:spPr>
            <a:xfrm>
              <a:off x="617220" y="2866644"/>
              <a:ext cx="380619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38" dirty="0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Same `npm test` as CI  ·  Auth: UI login form  ·  Trace + screenshots locally</a:t>
              </a:r>
              <a:endParaRPr lang="en-US" sz="638" dirty="0"/>
            </a:p>
          </p:txBody>
        </p:sp>
        <p:sp>
          <p:nvSpPr>
            <p:cNvPr id="1354" name="Shape 54">
              <a:extLst>
                <a:ext uri="{FF2B5EF4-FFF2-40B4-BE49-F238E27FC236}">
                  <a16:creationId xmlns:a16="http://schemas.microsoft.com/office/drawing/2014/main" id="{9399658A-3929-C95E-FD2F-EA8452F60533}"/>
                </a:ext>
              </a:extLst>
            </p:cNvPr>
            <p:cNvSpPr/>
            <p:nvPr/>
          </p:nvSpPr>
          <p:spPr>
            <a:xfrm>
              <a:off x="4766310" y="2331720"/>
              <a:ext cx="4046220" cy="720090"/>
            </a:xfrm>
            <a:prstGeom prst="rect">
              <a:avLst/>
            </a:prstGeom>
            <a:solidFill>
              <a:srgbClr val="F8F9FC"/>
            </a:solidFill>
            <a:ln w="6350">
              <a:solidFill>
                <a:srgbClr val="C99A06"/>
              </a:solidFill>
              <a:prstDash val="dash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55" name="Text 55">
              <a:extLst>
                <a:ext uri="{FF2B5EF4-FFF2-40B4-BE49-F238E27FC236}">
                  <a16:creationId xmlns:a16="http://schemas.microsoft.com/office/drawing/2014/main" id="{7AD28ED3-77CA-B20D-D2AE-FCE4EF94BB9B}"/>
                </a:ext>
              </a:extLst>
            </p:cNvPr>
            <p:cNvSpPr/>
            <p:nvPr/>
          </p:nvSpPr>
          <p:spPr>
            <a:xfrm>
              <a:off x="4834890" y="2359152"/>
              <a:ext cx="3909060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563" b="1" kern="0" spc="150">
                  <a:solidFill>
                    <a:srgbClr val="C99A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CI PIPELINE MODE</a:t>
              </a:r>
              <a:endParaRPr lang="en-US" sz="563"/>
            </a:p>
          </p:txBody>
        </p:sp>
        <p:sp>
          <p:nvSpPr>
            <p:cNvPr id="1356" name="Shape 56">
              <a:extLst>
                <a:ext uri="{FF2B5EF4-FFF2-40B4-BE49-F238E27FC236}">
                  <a16:creationId xmlns:a16="http://schemas.microsoft.com/office/drawing/2014/main" id="{32B7BDAB-DE6E-A70D-702F-CABB6972E8FA}"/>
                </a:ext>
              </a:extLst>
            </p:cNvPr>
            <p:cNvSpPr/>
            <p:nvPr/>
          </p:nvSpPr>
          <p:spPr>
            <a:xfrm>
              <a:off x="4869180" y="2537460"/>
              <a:ext cx="735178" cy="27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C99A06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57" name="Text 57">
              <a:extLst>
                <a:ext uri="{FF2B5EF4-FFF2-40B4-BE49-F238E27FC236}">
                  <a16:creationId xmlns:a16="http://schemas.microsoft.com/office/drawing/2014/main" id="{5E586F7A-A1BC-5C14-A4DD-C41770E4EC6F}"/>
                </a:ext>
              </a:extLst>
            </p:cNvPr>
            <p:cNvSpPr/>
            <p:nvPr/>
          </p:nvSpPr>
          <p:spPr>
            <a:xfrm>
              <a:off x="4869180" y="2551176"/>
              <a:ext cx="73517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75" b="1">
                  <a:solidFill>
                    <a:srgbClr val="C99A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CI Runner</a:t>
              </a:r>
              <a:endParaRPr lang="en-US" sz="675"/>
            </a:p>
          </p:txBody>
        </p:sp>
        <p:sp>
          <p:nvSpPr>
            <p:cNvPr id="1358" name="Text 58">
              <a:extLst>
                <a:ext uri="{FF2B5EF4-FFF2-40B4-BE49-F238E27FC236}">
                  <a16:creationId xmlns:a16="http://schemas.microsoft.com/office/drawing/2014/main" id="{97A267B1-3693-DE30-B4FE-E3FDE171D10D}"/>
                </a:ext>
              </a:extLst>
            </p:cNvPr>
            <p:cNvSpPr/>
            <p:nvPr/>
          </p:nvSpPr>
          <p:spPr>
            <a:xfrm>
              <a:off x="4869180" y="2674620"/>
              <a:ext cx="735178" cy="1234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500" i="1" dirty="0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GitLab ·Jenkins</a:t>
              </a:r>
              <a:endParaRPr lang="en-US" sz="500" dirty="0"/>
            </a:p>
          </p:txBody>
        </p:sp>
        <p:sp>
          <p:nvSpPr>
            <p:cNvPr id="1359" name="Shape 59">
              <a:extLst>
                <a:ext uri="{FF2B5EF4-FFF2-40B4-BE49-F238E27FC236}">
                  <a16:creationId xmlns:a16="http://schemas.microsoft.com/office/drawing/2014/main" id="{3D52D471-A513-949D-9AD6-9589DA788092}"/>
                </a:ext>
              </a:extLst>
            </p:cNvPr>
            <p:cNvSpPr/>
            <p:nvPr/>
          </p:nvSpPr>
          <p:spPr>
            <a:xfrm>
              <a:off x="5604358" y="2674620"/>
              <a:ext cx="41148" cy="0"/>
            </a:xfrm>
            <a:prstGeom prst="line">
              <a:avLst/>
            </a:prstGeom>
            <a:noFill/>
            <a:ln w="12700">
              <a:solidFill>
                <a:srgbClr val="1A1F3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60" name="Shape 60">
              <a:extLst>
                <a:ext uri="{FF2B5EF4-FFF2-40B4-BE49-F238E27FC236}">
                  <a16:creationId xmlns:a16="http://schemas.microsoft.com/office/drawing/2014/main" id="{733C7DD5-F179-C27B-255A-4BBCCD0B3941}"/>
                </a:ext>
              </a:extLst>
            </p:cNvPr>
            <p:cNvSpPr/>
            <p:nvPr/>
          </p:nvSpPr>
          <p:spPr>
            <a:xfrm>
              <a:off x="5645506" y="2537460"/>
              <a:ext cx="735178" cy="27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D72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61" name="Text 61">
              <a:extLst>
                <a:ext uri="{FF2B5EF4-FFF2-40B4-BE49-F238E27FC236}">
                  <a16:creationId xmlns:a16="http://schemas.microsoft.com/office/drawing/2014/main" id="{FD230D6A-3A83-BE5F-7B17-D00DBFC422DE}"/>
                </a:ext>
              </a:extLst>
            </p:cNvPr>
            <p:cNvSpPr/>
            <p:nvPr/>
          </p:nvSpPr>
          <p:spPr>
            <a:xfrm>
              <a:off x="5645506" y="2551176"/>
              <a:ext cx="73517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75" b="1">
                  <a:solidFill>
                    <a:srgbClr val="002D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Docker</a:t>
              </a:r>
              <a:endParaRPr lang="en-US" sz="675"/>
            </a:p>
          </p:txBody>
        </p:sp>
        <p:sp>
          <p:nvSpPr>
            <p:cNvPr id="1362" name="Text 62">
              <a:extLst>
                <a:ext uri="{FF2B5EF4-FFF2-40B4-BE49-F238E27FC236}">
                  <a16:creationId xmlns:a16="http://schemas.microsoft.com/office/drawing/2014/main" id="{21541380-F6DB-48CD-00AB-3277477C57C7}"/>
                </a:ext>
              </a:extLst>
            </p:cNvPr>
            <p:cNvSpPr/>
            <p:nvPr/>
          </p:nvSpPr>
          <p:spPr>
            <a:xfrm>
              <a:off x="5645506" y="2674620"/>
              <a:ext cx="735178" cy="1234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88" i="1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playwright base</a:t>
              </a:r>
              <a:endParaRPr lang="en-US" sz="488"/>
            </a:p>
          </p:txBody>
        </p:sp>
        <p:sp>
          <p:nvSpPr>
            <p:cNvPr id="1363" name="Shape 63">
              <a:extLst>
                <a:ext uri="{FF2B5EF4-FFF2-40B4-BE49-F238E27FC236}">
                  <a16:creationId xmlns:a16="http://schemas.microsoft.com/office/drawing/2014/main" id="{7A78AA57-81DC-49ED-0B15-DA056A77939F}"/>
                </a:ext>
              </a:extLst>
            </p:cNvPr>
            <p:cNvSpPr/>
            <p:nvPr/>
          </p:nvSpPr>
          <p:spPr>
            <a:xfrm>
              <a:off x="6380684" y="2674620"/>
              <a:ext cx="41148" cy="0"/>
            </a:xfrm>
            <a:prstGeom prst="line">
              <a:avLst/>
            </a:prstGeom>
            <a:noFill/>
            <a:ln w="12700">
              <a:solidFill>
                <a:srgbClr val="1A1F3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64" name="Shape 64">
              <a:extLst>
                <a:ext uri="{FF2B5EF4-FFF2-40B4-BE49-F238E27FC236}">
                  <a16:creationId xmlns:a16="http://schemas.microsoft.com/office/drawing/2014/main" id="{2F215A66-0D09-472C-21BD-F5C3B1A87D5C}"/>
                </a:ext>
              </a:extLst>
            </p:cNvPr>
            <p:cNvSpPr/>
            <p:nvPr/>
          </p:nvSpPr>
          <p:spPr>
            <a:xfrm>
              <a:off x="6421832" y="2537460"/>
              <a:ext cx="735178" cy="27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6F40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65" name="Text 65">
              <a:extLst>
                <a:ext uri="{FF2B5EF4-FFF2-40B4-BE49-F238E27FC236}">
                  <a16:creationId xmlns:a16="http://schemas.microsoft.com/office/drawing/2014/main" id="{41D07866-6BB6-7FF2-9887-971C64BCAA29}"/>
                </a:ext>
              </a:extLst>
            </p:cNvPr>
            <p:cNvSpPr/>
            <p:nvPr/>
          </p:nvSpPr>
          <p:spPr>
            <a:xfrm>
              <a:off x="6421832" y="2551176"/>
              <a:ext cx="73517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75" b="1">
                  <a:solidFill>
                    <a:srgbClr val="2E6F40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Setup</a:t>
              </a:r>
              <a:endParaRPr lang="en-US" sz="675"/>
            </a:p>
          </p:txBody>
        </p:sp>
        <p:sp>
          <p:nvSpPr>
            <p:cNvPr id="1366" name="Text 66">
              <a:extLst>
                <a:ext uri="{FF2B5EF4-FFF2-40B4-BE49-F238E27FC236}">
                  <a16:creationId xmlns:a16="http://schemas.microsoft.com/office/drawing/2014/main" id="{7AFEF753-2BA7-0B4D-EB50-2DFE4441C876}"/>
                </a:ext>
              </a:extLst>
            </p:cNvPr>
            <p:cNvSpPr/>
            <p:nvPr/>
          </p:nvSpPr>
          <p:spPr>
            <a:xfrm>
              <a:off x="6421832" y="2674620"/>
              <a:ext cx="735178" cy="1234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88" i="1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SSO→storageState</a:t>
              </a:r>
              <a:endParaRPr lang="en-US" sz="488"/>
            </a:p>
          </p:txBody>
        </p:sp>
        <p:sp>
          <p:nvSpPr>
            <p:cNvPr id="1367" name="Shape 67">
              <a:extLst>
                <a:ext uri="{FF2B5EF4-FFF2-40B4-BE49-F238E27FC236}">
                  <a16:creationId xmlns:a16="http://schemas.microsoft.com/office/drawing/2014/main" id="{5FFC4902-E84C-0C4B-1A58-CE2E5F037DA2}"/>
                </a:ext>
              </a:extLst>
            </p:cNvPr>
            <p:cNvSpPr/>
            <p:nvPr/>
          </p:nvSpPr>
          <p:spPr>
            <a:xfrm>
              <a:off x="7157009" y="2674620"/>
              <a:ext cx="41148" cy="0"/>
            </a:xfrm>
            <a:prstGeom prst="line">
              <a:avLst/>
            </a:prstGeom>
            <a:noFill/>
            <a:ln w="12700">
              <a:solidFill>
                <a:srgbClr val="1A1F3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68" name="Shape 68">
              <a:extLst>
                <a:ext uri="{FF2B5EF4-FFF2-40B4-BE49-F238E27FC236}">
                  <a16:creationId xmlns:a16="http://schemas.microsoft.com/office/drawing/2014/main" id="{AB779767-3900-46C6-8371-B2E56C698F14}"/>
                </a:ext>
              </a:extLst>
            </p:cNvPr>
            <p:cNvSpPr/>
            <p:nvPr/>
          </p:nvSpPr>
          <p:spPr>
            <a:xfrm>
              <a:off x="7198157" y="2537460"/>
              <a:ext cx="735178" cy="27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D72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69" name="Text 69">
              <a:extLst>
                <a:ext uri="{FF2B5EF4-FFF2-40B4-BE49-F238E27FC236}">
                  <a16:creationId xmlns:a16="http://schemas.microsoft.com/office/drawing/2014/main" id="{E7CB055C-08DB-B444-E6A7-924ACD51E3DA}"/>
                </a:ext>
              </a:extLst>
            </p:cNvPr>
            <p:cNvSpPr/>
            <p:nvPr/>
          </p:nvSpPr>
          <p:spPr>
            <a:xfrm>
              <a:off x="7198157" y="2551176"/>
              <a:ext cx="73517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75" b="1">
                  <a:solidFill>
                    <a:srgbClr val="002D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Generate</a:t>
              </a:r>
              <a:endParaRPr lang="en-US" sz="675"/>
            </a:p>
          </p:txBody>
        </p:sp>
        <p:sp>
          <p:nvSpPr>
            <p:cNvPr id="1370" name="Text 70">
              <a:extLst>
                <a:ext uri="{FF2B5EF4-FFF2-40B4-BE49-F238E27FC236}">
                  <a16:creationId xmlns:a16="http://schemas.microsoft.com/office/drawing/2014/main" id="{9D376FD7-FE72-FD19-54C4-E6008FCBBE8F}"/>
                </a:ext>
              </a:extLst>
            </p:cNvPr>
            <p:cNvSpPr/>
            <p:nvPr/>
          </p:nvSpPr>
          <p:spPr>
            <a:xfrm>
              <a:off x="7198157" y="2674620"/>
              <a:ext cx="735178" cy="1234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88" i="1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qe-core CLI</a:t>
              </a:r>
              <a:endParaRPr lang="en-US" sz="488"/>
            </a:p>
          </p:txBody>
        </p:sp>
        <p:sp>
          <p:nvSpPr>
            <p:cNvPr id="1371" name="Shape 71">
              <a:extLst>
                <a:ext uri="{FF2B5EF4-FFF2-40B4-BE49-F238E27FC236}">
                  <a16:creationId xmlns:a16="http://schemas.microsoft.com/office/drawing/2014/main" id="{F6FEBAD1-7D3C-78CF-CC8E-B51709A750FC}"/>
                </a:ext>
              </a:extLst>
            </p:cNvPr>
            <p:cNvSpPr/>
            <p:nvPr/>
          </p:nvSpPr>
          <p:spPr>
            <a:xfrm>
              <a:off x="7933334" y="2674620"/>
              <a:ext cx="41148" cy="0"/>
            </a:xfrm>
            <a:prstGeom prst="line">
              <a:avLst/>
            </a:prstGeom>
            <a:noFill/>
            <a:ln w="12700">
              <a:solidFill>
                <a:srgbClr val="1A1F36"/>
              </a:solidFill>
              <a:prstDash val="solid"/>
              <a:headEnd type="none"/>
              <a:tailEnd type="triangle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72" name="Shape 72">
              <a:extLst>
                <a:ext uri="{FF2B5EF4-FFF2-40B4-BE49-F238E27FC236}">
                  <a16:creationId xmlns:a16="http://schemas.microsoft.com/office/drawing/2014/main" id="{82EE21AE-FE6E-EAFD-5AC9-4BF7F16CAD59}"/>
                </a:ext>
              </a:extLst>
            </p:cNvPr>
            <p:cNvSpPr/>
            <p:nvPr/>
          </p:nvSpPr>
          <p:spPr>
            <a:xfrm>
              <a:off x="7974483" y="2537460"/>
              <a:ext cx="735178" cy="2743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2D72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73" name="Text 73">
              <a:extLst>
                <a:ext uri="{FF2B5EF4-FFF2-40B4-BE49-F238E27FC236}">
                  <a16:creationId xmlns:a16="http://schemas.microsoft.com/office/drawing/2014/main" id="{DCFE29E2-C9F1-C82C-26D1-BFA99A132FB0}"/>
                </a:ext>
              </a:extLst>
            </p:cNvPr>
            <p:cNvSpPr/>
            <p:nvPr/>
          </p:nvSpPr>
          <p:spPr>
            <a:xfrm>
              <a:off x="7974483" y="2551176"/>
              <a:ext cx="735178" cy="1371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75" b="1">
                  <a:solidFill>
                    <a:srgbClr val="002D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Run</a:t>
              </a:r>
              <a:endParaRPr lang="en-US" sz="675"/>
            </a:p>
          </p:txBody>
        </p:sp>
        <p:sp>
          <p:nvSpPr>
            <p:cNvPr id="1374" name="Text 74">
              <a:extLst>
                <a:ext uri="{FF2B5EF4-FFF2-40B4-BE49-F238E27FC236}">
                  <a16:creationId xmlns:a16="http://schemas.microsoft.com/office/drawing/2014/main" id="{4BF81216-C666-60D3-973F-2394154E1735}"/>
                </a:ext>
              </a:extLst>
            </p:cNvPr>
            <p:cNvSpPr/>
            <p:nvPr/>
          </p:nvSpPr>
          <p:spPr>
            <a:xfrm>
              <a:off x="7974483" y="2674620"/>
              <a:ext cx="735178" cy="12344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488" i="1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parallel workers</a:t>
              </a:r>
              <a:endParaRPr lang="en-US" sz="488"/>
            </a:p>
          </p:txBody>
        </p:sp>
        <p:sp>
          <p:nvSpPr>
            <p:cNvPr id="1375" name="Text 75">
              <a:extLst>
                <a:ext uri="{FF2B5EF4-FFF2-40B4-BE49-F238E27FC236}">
                  <a16:creationId xmlns:a16="http://schemas.microsoft.com/office/drawing/2014/main" id="{6DDE8B08-A927-FB9E-CE21-B735D412A62F}"/>
                </a:ext>
              </a:extLst>
            </p:cNvPr>
            <p:cNvSpPr/>
            <p:nvPr/>
          </p:nvSpPr>
          <p:spPr>
            <a:xfrm>
              <a:off x="4869180" y="2866644"/>
              <a:ext cx="3840480" cy="1714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38" dirty="0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FQDN bound in Docker  ·  internal CA mounted  ·  </a:t>
              </a:r>
              <a:r>
                <a:rPr lang="en-US" sz="638" dirty="0" err="1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StorageState</a:t>
              </a:r>
              <a:r>
                <a:rPr lang="en-US" sz="638" dirty="0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reused  ·  trace + healing report published</a:t>
              </a:r>
              <a:endParaRPr lang="en-US" sz="638" dirty="0"/>
            </a:p>
          </p:txBody>
        </p:sp>
        <p:sp>
          <p:nvSpPr>
            <p:cNvPr id="1376" name="Shape 76">
              <a:extLst>
                <a:ext uri="{FF2B5EF4-FFF2-40B4-BE49-F238E27FC236}">
                  <a16:creationId xmlns:a16="http://schemas.microsoft.com/office/drawing/2014/main" id="{C1BEEB99-9B78-E252-4760-4CCAD35A2026}"/>
                </a:ext>
              </a:extLst>
            </p:cNvPr>
            <p:cNvSpPr/>
            <p:nvPr/>
          </p:nvSpPr>
          <p:spPr>
            <a:xfrm>
              <a:off x="2263140" y="3086100"/>
              <a:ext cx="342900" cy="192024"/>
            </a:xfrm>
            <a:prstGeom prst="downArrow">
              <a:avLst/>
            </a:prstGeom>
            <a:solidFill>
              <a:srgbClr val="0E7C7B"/>
            </a:solidFill>
            <a:ln w="12700">
              <a:solidFill>
                <a:srgbClr val="0E7C7B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77" name="Shape 77">
              <a:extLst>
                <a:ext uri="{FF2B5EF4-FFF2-40B4-BE49-F238E27FC236}">
                  <a16:creationId xmlns:a16="http://schemas.microsoft.com/office/drawing/2014/main" id="{5A424F5D-5C7A-F485-574A-E3621ADC9E55}"/>
                </a:ext>
              </a:extLst>
            </p:cNvPr>
            <p:cNvSpPr/>
            <p:nvPr/>
          </p:nvSpPr>
          <p:spPr>
            <a:xfrm>
              <a:off x="6583680" y="3107202"/>
              <a:ext cx="342900" cy="192024"/>
            </a:xfrm>
            <a:prstGeom prst="downArrow">
              <a:avLst/>
            </a:prstGeom>
            <a:solidFill>
              <a:srgbClr val="C99A06"/>
            </a:solidFill>
            <a:ln w="12700">
              <a:solidFill>
                <a:srgbClr val="C99A06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78" name="Shape 78">
              <a:extLst>
                <a:ext uri="{FF2B5EF4-FFF2-40B4-BE49-F238E27FC236}">
                  <a16:creationId xmlns:a16="http://schemas.microsoft.com/office/drawing/2014/main" id="{81E53738-F65C-5822-88CC-683E02088EBE}"/>
                </a:ext>
              </a:extLst>
            </p:cNvPr>
            <p:cNvSpPr/>
            <p:nvPr/>
          </p:nvSpPr>
          <p:spPr>
            <a:xfrm>
              <a:off x="342901" y="3326130"/>
              <a:ext cx="8457971" cy="8229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E6F40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79" name="Shape 79">
              <a:extLst>
                <a:ext uri="{FF2B5EF4-FFF2-40B4-BE49-F238E27FC236}">
                  <a16:creationId xmlns:a16="http://schemas.microsoft.com/office/drawing/2014/main" id="{76ECA302-5C15-E092-BF70-18630B1C89D2}"/>
                </a:ext>
              </a:extLst>
            </p:cNvPr>
            <p:cNvSpPr/>
            <p:nvPr/>
          </p:nvSpPr>
          <p:spPr>
            <a:xfrm>
              <a:off x="342900" y="3326130"/>
              <a:ext cx="3291840" cy="205740"/>
            </a:xfrm>
            <a:prstGeom prst="rect">
              <a:avLst/>
            </a:prstGeom>
            <a:solidFill>
              <a:srgbClr val="2E6F40"/>
            </a:solidFill>
            <a:ln w="12700">
              <a:solidFill>
                <a:srgbClr val="2E6F40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80" name="Text 80">
              <a:extLst>
                <a:ext uri="{FF2B5EF4-FFF2-40B4-BE49-F238E27FC236}">
                  <a16:creationId xmlns:a16="http://schemas.microsoft.com/office/drawing/2014/main" id="{0910A8A5-5A9C-4946-CC0D-456893C6FF29}"/>
                </a:ext>
              </a:extLst>
            </p:cNvPr>
            <p:cNvSpPr/>
            <p:nvPr/>
          </p:nvSpPr>
          <p:spPr>
            <a:xfrm>
              <a:off x="411480" y="3326130"/>
              <a:ext cx="315468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38" b="1" kern="0" spc="150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       SYSTEM UNDER TEST</a:t>
              </a:r>
              <a:endParaRPr lang="en-US" sz="638" dirty="0"/>
            </a:p>
          </p:txBody>
        </p:sp>
        <p:sp>
          <p:nvSpPr>
            <p:cNvPr id="1381" name="Shape 81">
              <a:extLst>
                <a:ext uri="{FF2B5EF4-FFF2-40B4-BE49-F238E27FC236}">
                  <a16:creationId xmlns:a16="http://schemas.microsoft.com/office/drawing/2014/main" id="{E3134D90-3D18-E4DE-2F62-E42EA6E156DF}"/>
                </a:ext>
              </a:extLst>
            </p:cNvPr>
            <p:cNvSpPr/>
            <p:nvPr/>
          </p:nvSpPr>
          <p:spPr>
            <a:xfrm>
              <a:off x="514350" y="3600450"/>
              <a:ext cx="1440180" cy="4800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DBE7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82" name="Shape 82">
              <a:extLst>
                <a:ext uri="{FF2B5EF4-FFF2-40B4-BE49-F238E27FC236}">
                  <a16:creationId xmlns:a16="http://schemas.microsoft.com/office/drawing/2014/main" id="{A658BF7C-380C-0D42-6100-8577E04DAE22}"/>
                </a:ext>
              </a:extLst>
            </p:cNvPr>
            <p:cNvSpPr/>
            <p:nvPr/>
          </p:nvSpPr>
          <p:spPr>
            <a:xfrm>
              <a:off x="514350" y="3600450"/>
              <a:ext cx="41148" cy="480060"/>
            </a:xfrm>
            <a:prstGeom prst="rect">
              <a:avLst/>
            </a:prstGeom>
            <a:solidFill>
              <a:srgbClr val="2E6F40"/>
            </a:solidFill>
            <a:ln w="12700">
              <a:solidFill>
                <a:srgbClr val="2E6F40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83" name="Text 83">
              <a:extLst>
                <a:ext uri="{FF2B5EF4-FFF2-40B4-BE49-F238E27FC236}">
                  <a16:creationId xmlns:a16="http://schemas.microsoft.com/office/drawing/2014/main" id="{DD9DA2B3-90CC-4D13-C69E-7FAFB3C33135}"/>
                </a:ext>
              </a:extLst>
            </p:cNvPr>
            <p:cNvSpPr/>
            <p:nvPr/>
          </p:nvSpPr>
          <p:spPr>
            <a:xfrm>
              <a:off x="582930" y="3627882"/>
              <a:ext cx="133731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713" b="1">
                  <a:solidFill>
                    <a:srgbClr val="002D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Risk Desktop SPA</a:t>
              </a:r>
              <a:endParaRPr lang="en-US" sz="713"/>
            </a:p>
          </p:txBody>
        </p:sp>
        <p:sp>
          <p:nvSpPr>
            <p:cNvPr id="1384" name="Text 84">
              <a:extLst>
                <a:ext uri="{FF2B5EF4-FFF2-40B4-BE49-F238E27FC236}">
                  <a16:creationId xmlns:a16="http://schemas.microsoft.com/office/drawing/2014/main" id="{379A9201-84A6-E93E-3124-446417442922}"/>
                </a:ext>
              </a:extLst>
            </p:cNvPr>
            <p:cNvSpPr/>
            <p:nvPr/>
          </p:nvSpPr>
          <p:spPr>
            <a:xfrm>
              <a:off x="582930" y="3806190"/>
              <a:ext cx="133731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600" dirty="0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Angular  ·  Chrome</a:t>
              </a:r>
            </a:p>
            <a:p>
              <a:pPr algn="ctr"/>
              <a:endParaRPr lang="en-US" sz="600" dirty="0">
                <a:solidFill>
                  <a:srgbClr val="1A1F36"/>
                </a:solidFill>
                <a:latin typeface="Arial" pitchFamily="34" charset="0"/>
                <a:cs typeface="Arial" pitchFamily="34" charset="-120"/>
              </a:endParaRPr>
            </a:p>
            <a:p>
              <a:pPr algn="ctr"/>
              <a:r>
                <a:rPr lang="en-US" sz="600" dirty="0">
                  <a:solidFill>
                    <a:srgbClr val="1A1F36"/>
                  </a:solidFill>
                  <a:latin typeface="Arial" pitchFamily="34" charset="0"/>
                  <a:cs typeface="Arial" pitchFamily="34" charset="-120"/>
                </a:rPr>
                <a:t>     Angular tab /Grids</a:t>
              </a:r>
              <a:endParaRPr lang="en-US" sz="600" dirty="0"/>
            </a:p>
          </p:txBody>
        </p:sp>
        <p:sp>
          <p:nvSpPr>
            <p:cNvPr id="1385" name="Shape 85">
              <a:extLst>
                <a:ext uri="{FF2B5EF4-FFF2-40B4-BE49-F238E27FC236}">
                  <a16:creationId xmlns:a16="http://schemas.microsoft.com/office/drawing/2014/main" id="{FD653A03-2178-690A-1CFC-779F44CDAD43}"/>
                </a:ext>
              </a:extLst>
            </p:cNvPr>
            <p:cNvSpPr/>
            <p:nvPr/>
          </p:nvSpPr>
          <p:spPr>
            <a:xfrm>
              <a:off x="2057400" y="3600450"/>
              <a:ext cx="1748790" cy="4800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DBE7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86" name="Shape 86">
              <a:extLst>
                <a:ext uri="{FF2B5EF4-FFF2-40B4-BE49-F238E27FC236}">
                  <a16:creationId xmlns:a16="http://schemas.microsoft.com/office/drawing/2014/main" id="{41B7522F-C607-B73F-0EB5-0BB7C06436F0}"/>
                </a:ext>
              </a:extLst>
            </p:cNvPr>
            <p:cNvSpPr/>
            <p:nvPr/>
          </p:nvSpPr>
          <p:spPr>
            <a:xfrm>
              <a:off x="2057400" y="3600450"/>
              <a:ext cx="41148" cy="480060"/>
            </a:xfrm>
            <a:prstGeom prst="rect">
              <a:avLst/>
            </a:prstGeom>
            <a:solidFill>
              <a:srgbClr val="2E6F40"/>
            </a:solidFill>
            <a:ln w="12700">
              <a:solidFill>
                <a:srgbClr val="2E6F40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87" name="Text 87">
              <a:extLst>
                <a:ext uri="{FF2B5EF4-FFF2-40B4-BE49-F238E27FC236}">
                  <a16:creationId xmlns:a16="http://schemas.microsoft.com/office/drawing/2014/main" id="{2B65917B-6167-8012-69F0-760CF4727BD7}"/>
                </a:ext>
              </a:extLst>
            </p:cNvPr>
            <p:cNvSpPr/>
            <p:nvPr/>
          </p:nvSpPr>
          <p:spPr>
            <a:xfrm>
              <a:off x="2125980" y="3627882"/>
              <a:ext cx="164592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713" b="1">
                  <a:solidFill>
                    <a:srgbClr val="002D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App Services</a:t>
              </a:r>
              <a:endParaRPr lang="en-US" sz="713"/>
            </a:p>
          </p:txBody>
        </p:sp>
        <p:sp>
          <p:nvSpPr>
            <p:cNvPr id="1388" name="Text 88">
              <a:extLst>
                <a:ext uri="{FF2B5EF4-FFF2-40B4-BE49-F238E27FC236}">
                  <a16:creationId xmlns:a16="http://schemas.microsoft.com/office/drawing/2014/main" id="{1895C5D5-756F-FF88-6E0C-AB1934D6224B}"/>
                </a:ext>
              </a:extLst>
            </p:cNvPr>
            <p:cNvSpPr/>
            <p:nvPr/>
          </p:nvSpPr>
          <p:spPr>
            <a:xfrm>
              <a:off x="2125980" y="3806190"/>
              <a:ext cx="164592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600" dirty="0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  .NET + Spring Boot</a:t>
              </a:r>
              <a:endParaRPr lang="en-US" sz="600" dirty="0"/>
            </a:p>
            <a:p>
              <a:pPr algn="ctr"/>
              <a:r>
                <a:rPr lang="en-US" sz="600" dirty="0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App  ·  Job  ·  Calendar API</a:t>
              </a:r>
              <a:endParaRPr lang="en-US" sz="600" dirty="0"/>
            </a:p>
          </p:txBody>
        </p:sp>
        <p:sp>
          <p:nvSpPr>
            <p:cNvPr id="1389" name="Shape 89">
              <a:extLst>
                <a:ext uri="{FF2B5EF4-FFF2-40B4-BE49-F238E27FC236}">
                  <a16:creationId xmlns:a16="http://schemas.microsoft.com/office/drawing/2014/main" id="{2C0CC52D-BF22-5BB9-8863-CF2F69A7F344}"/>
                </a:ext>
              </a:extLst>
            </p:cNvPr>
            <p:cNvSpPr/>
            <p:nvPr/>
          </p:nvSpPr>
          <p:spPr>
            <a:xfrm>
              <a:off x="3909060" y="3600450"/>
              <a:ext cx="1440180" cy="4800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DBE7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90" name="Shape 90">
              <a:extLst>
                <a:ext uri="{FF2B5EF4-FFF2-40B4-BE49-F238E27FC236}">
                  <a16:creationId xmlns:a16="http://schemas.microsoft.com/office/drawing/2014/main" id="{471E9658-DDDC-5772-D6D0-A517F4123C5D}"/>
                </a:ext>
              </a:extLst>
            </p:cNvPr>
            <p:cNvSpPr/>
            <p:nvPr/>
          </p:nvSpPr>
          <p:spPr>
            <a:xfrm>
              <a:off x="3909060" y="3600450"/>
              <a:ext cx="41148" cy="480060"/>
            </a:xfrm>
            <a:prstGeom prst="rect">
              <a:avLst/>
            </a:prstGeom>
            <a:solidFill>
              <a:srgbClr val="2E6F40"/>
            </a:solidFill>
            <a:ln w="12700">
              <a:solidFill>
                <a:srgbClr val="2E6F40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91" name="Text 91">
              <a:extLst>
                <a:ext uri="{FF2B5EF4-FFF2-40B4-BE49-F238E27FC236}">
                  <a16:creationId xmlns:a16="http://schemas.microsoft.com/office/drawing/2014/main" id="{A1269623-7E7B-3A6E-A5C9-1A0A3EAFC428}"/>
                </a:ext>
              </a:extLst>
            </p:cNvPr>
            <p:cNvSpPr/>
            <p:nvPr/>
          </p:nvSpPr>
          <p:spPr>
            <a:xfrm>
              <a:off x="3977640" y="3627882"/>
              <a:ext cx="133731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713" b="1" dirty="0">
                  <a:solidFill>
                    <a:srgbClr val="002D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  Oracle/ PostgreSQL</a:t>
              </a:r>
              <a:endParaRPr lang="en-US" sz="713" dirty="0"/>
            </a:p>
          </p:txBody>
        </p:sp>
        <p:sp>
          <p:nvSpPr>
            <p:cNvPr id="1392" name="Text 92">
              <a:extLst>
                <a:ext uri="{FF2B5EF4-FFF2-40B4-BE49-F238E27FC236}">
                  <a16:creationId xmlns:a16="http://schemas.microsoft.com/office/drawing/2014/main" id="{A5290B8C-8FCC-BBB2-BE6F-3FF13494F369}"/>
                </a:ext>
              </a:extLst>
            </p:cNvPr>
            <p:cNvSpPr/>
            <p:nvPr/>
          </p:nvSpPr>
          <p:spPr>
            <a:xfrm>
              <a:off x="3977640" y="3806190"/>
              <a:ext cx="133731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600" dirty="0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</a:t>
              </a:r>
              <a:r>
                <a:rPr lang="en-US" sz="600" dirty="0">
                  <a:solidFill>
                    <a:srgbClr val="1A1F36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App Results  ·  reference</a:t>
              </a:r>
              <a:endParaRPr 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sz="600" dirty="0">
                  <a:solidFill>
                    <a:srgbClr val="1A1F36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audit</a:t>
              </a:r>
              <a:endParaRPr lang="en-US" sz="6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3" name="Shape 93">
              <a:extLst>
                <a:ext uri="{FF2B5EF4-FFF2-40B4-BE49-F238E27FC236}">
                  <a16:creationId xmlns:a16="http://schemas.microsoft.com/office/drawing/2014/main" id="{4DBCBB06-34D6-E523-1D7D-65F7FD7C4F8A}"/>
                </a:ext>
              </a:extLst>
            </p:cNvPr>
            <p:cNvSpPr/>
            <p:nvPr/>
          </p:nvSpPr>
          <p:spPr>
            <a:xfrm>
              <a:off x="5452110" y="3600450"/>
              <a:ext cx="1645920" cy="4800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DBE7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94" name="Shape 94">
              <a:extLst>
                <a:ext uri="{FF2B5EF4-FFF2-40B4-BE49-F238E27FC236}">
                  <a16:creationId xmlns:a16="http://schemas.microsoft.com/office/drawing/2014/main" id="{7B227231-F767-7B74-B957-7C67952BBB67}"/>
                </a:ext>
              </a:extLst>
            </p:cNvPr>
            <p:cNvSpPr/>
            <p:nvPr/>
          </p:nvSpPr>
          <p:spPr>
            <a:xfrm>
              <a:off x="5452110" y="3600450"/>
              <a:ext cx="41148" cy="480060"/>
            </a:xfrm>
            <a:prstGeom prst="rect">
              <a:avLst/>
            </a:prstGeom>
            <a:solidFill>
              <a:srgbClr val="2E6F40"/>
            </a:solidFill>
            <a:ln w="12700">
              <a:solidFill>
                <a:srgbClr val="2E6F40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95" name="Text 95">
              <a:extLst>
                <a:ext uri="{FF2B5EF4-FFF2-40B4-BE49-F238E27FC236}">
                  <a16:creationId xmlns:a16="http://schemas.microsoft.com/office/drawing/2014/main" id="{A357443D-D78F-5A21-E021-D4345BA64B27}"/>
                </a:ext>
              </a:extLst>
            </p:cNvPr>
            <p:cNvSpPr/>
            <p:nvPr/>
          </p:nvSpPr>
          <p:spPr>
            <a:xfrm>
              <a:off x="5520690" y="3627882"/>
              <a:ext cx="154305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713" b="1" dirty="0">
                  <a:solidFill>
                    <a:srgbClr val="002D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    20+ Upstream Apps</a:t>
              </a:r>
              <a:endParaRPr lang="en-US" sz="713" dirty="0"/>
            </a:p>
          </p:txBody>
        </p:sp>
        <p:sp>
          <p:nvSpPr>
            <p:cNvPr id="1396" name="Text 96">
              <a:extLst>
                <a:ext uri="{FF2B5EF4-FFF2-40B4-BE49-F238E27FC236}">
                  <a16:creationId xmlns:a16="http://schemas.microsoft.com/office/drawing/2014/main" id="{3AB0851D-1E01-689C-4609-7F244AA5ACC4}"/>
                </a:ext>
              </a:extLst>
            </p:cNvPr>
            <p:cNvSpPr/>
            <p:nvPr/>
          </p:nvSpPr>
          <p:spPr>
            <a:xfrm>
              <a:off x="5520690" y="3806190"/>
              <a:ext cx="154305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600" dirty="0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Daily feeds</a:t>
              </a:r>
              <a:endParaRPr lang="en-US" sz="600" dirty="0"/>
            </a:p>
            <a:p>
              <a:pPr algn="ctr"/>
              <a:r>
                <a:rPr lang="en-US" sz="600" dirty="0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Reference &amp; market data</a:t>
              </a:r>
              <a:endParaRPr lang="en-US" sz="600" dirty="0"/>
            </a:p>
          </p:txBody>
        </p:sp>
        <p:sp>
          <p:nvSpPr>
            <p:cNvPr id="1397" name="Shape 97">
              <a:extLst>
                <a:ext uri="{FF2B5EF4-FFF2-40B4-BE49-F238E27FC236}">
                  <a16:creationId xmlns:a16="http://schemas.microsoft.com/office/drawing/2014/main" id="{21ED354F-9A03-5EA8-3F33-AA3CAA03228B}"/>
                </a:ext>
              </a:extLst>
            </p:cNvPr>
            <p:cNvSpPr/>
            <p:nvPr/>
          </p:nvSpPr>
          <p:spPr>
            <a:xfrm>
              <a:off x="7200900" y="3600450"/>
              <a:ext cx="1611630" cy="48006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D6DBE7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98" name="Shape 98">
              <a:extLst>
                <a:ext uri="{FF2B5EF4-FFF2-40B4-BE49-F238E27FC236}">
                  <a16:creationId xmlns:a16="http://schemas.microsoft.com/office/drawing/2014/main" id="{60279A40-91D4-17A7-A526-768D3BD7E3D6}"/>
                </a:ext>
              </a:extLst>
            </p:cNvPr>
            <p:cNvSpPr/>
            <p:nvPr/>
          </p:nvSpPr>
          <p:spPr>
            <a:xfrm>
              <a:off x="7200900" y="3600450"/>
              <a:ext cx="41148" cy="480060"/>
            </a:xfrm>
            <a:prstGeom prst="rect">
              <a:avLst/>
            </a:prstGeom>
            <a:solidFill>
              <a:srgbClr val="B23A48"/>
            </a:solidFill>
            <a:ln w="12700">
              <a:solidFill>
                <a:srgbClr val="B23A48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399" name="Text 99">
              <a:extLst>
                <a:ext uri="{FF2B5EF4-FFF2-40B4-BE49-F238E27FC236}">
                  <a16:creationId xmlns:a16="http://schemas.microsoft.com/office/drawing/2014/main" id="{A4A5CBBA-04C8-6458-445E-B903EFCFDE9C}"/>
                </a:ext>
              </a:extLst>
            </p:cNvPr>
            <p:cNvSpPr/>
            <p:nvPr/>
          </p:nvSpPr>
          <p:spPr>
            <a:xfrm>
              <a:off x="7269480" y="3627882"/>
              <a:ext cx="1508760" cy="178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713" b="1" dirty="0">
                  <a:solidFill>
                    <a:srgbClr val="002D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Enterprise SSO</a:t>
              </a:r>
              <a:endParaRPr lang="en-US" sz="713" dirty="0"/>
            </a:p>
          </p:txBody>
        </p:sp>
        <p:sp>
          <p:nvSpPr>
            <p:cNvPr id="1401" name="Text 100">
              <a:extLst>
                <a:ext uri="{FF2B5EF4-FFF2-40B4-BE49-F238E27FC236}">
                  <a16:creationId xmlns:a16="http://schemas.microsoft.com/office/drawing/2014/main" id="{F22A5BD6-AEFC-3D12-01B5-40032DF0C88B}"/>
                </a:ext>
              </a:extLst>
            </p:cNvPr>
            <p:cNvSpPr/>
            <p:nvPr/>
          </p:nvSpPr>
          <p:spPr>
            <a:xfrm>
              <a:off x="7269480" y="3806190"/>
              <a:ext cx="1508760" cy="2468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/>
              <a:r>
                <a:rPr lang="en-US" sz="600" dirty="0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IdP  ·  FQDN-bound</a:t>
              </a:r>
              <a:endParaRPr lang="en-US" sz="600" dirty="0"/>
            </a:p>
            <a:p>
              <a:pPr algn="ctr"/>
              <a:r>
                <a:rPr lang="en-US" sz="600" dirty="0" err="1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storageState</a:t>
              </a:r>
              <a:r>
                <a:rPr lang="en-US" sz="600" dirty="0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 capture</a:t>
              </a:r>
              <a:endParaRPr lang="en-US" sz="600" dirty="0"/>
            </a:p>
          </p:txBody>
        </p:sp>
        <p:sp>
          <p:nvSpPr>
            <p:cNvPr id="1402" name="Shape 101">
              <a:extLst>
                <a:ext uri="{FF2B5EF4-FFF2-40B4-BE49-F238E27FC236}">
                  <a16:creationId xmlns:a16="http://schemas.microsoft.com/office/drawing/2014/main" id="{BA05CAF0-2171-00C2-0B9E-3AF7E94C91CC}"/>
                </a:ext>
              </a:extLst>
            </p:cNvPr>
            <p:cNvSpPr/>
            <p:nvPr/>
          </p:nvSpPr>
          <p:spPr>
            <a:xfrm>
              <a:off x="342901" y="4183380"/>
              <a:ext cx="8457971" cy="51435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1A3D85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403" name="Shape 102">
              <a:extLst>
                <a:ext uri="{FF2B5EF4-FFF2-40B4-BE49-F238E27FC236}">
                  <a16:creationId xmlns:a16="http://schemas.microsoft.com/office/drawing/2014/main" id="{65B0FEEE-9ADC-0621-C1A0-68E31DA09B8E}"/>
                </a:ext>
              </a:extLst>
            </p:cNvPr>
            <p:cNvSpPr/>
            <p:nvPr/>
          </p:nvSpPr>
          <p:spPr>
            <a:xfrm>
              <a:off x="342900" y="4183380"/>
              <a:ext cx="3291840" cy="205740"/>
            </a:xfrm>
            <a:prstGeom prst="rect">
              <a:avLst/>
            </a:prstGeom>
            <a:solidFill>
              <a:srgbClr val="1A3D85"/>
            </a:solidFill>
            <a:ln w="12700">
              <a:solidFill>
                <a:srgbClr val="1A3D85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404" name="Text 103">
              <a:extLst>
                <a:ext uri="{FF2B5EF4-FFF2-40B4-BE49-F238E27FC236}">
                  <a16:creationId xmlns:a16="http://schemas.microsoft.com/office/drawing/2014/main" id="{6EB36E2F-5452-FE57-3F0B-5D12F4E7939A}"/>
                </a:ext>
              </a:extLst>
            </p:cNvPr>
            <p:cNvSpPr/>
            <p:nvPr/>
          </p:nvSpPr>
          <p:spPr>
            <a:xfrm>
              <a:off x="411480" y="4183380"/>
              <a:ext cx="3154680" cy="2057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638" b="1" kern="0" spc="15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REPORTING &amp; OBSERVABILITY</a:t>
              </a:r>
              <a:endParaRPr lang="en-US" sz="638"/>
            </a:p>
          </p:txBody>
        </p:sp>
        <p:sp>
          <p:nvSpPr>
            <p:cNvPr id="1405" name="Shape 104">
              <a:extLst>
                <a:ext uri="{FF2B5EF4-FFF2-40B4-BE49-F238E27FC236}">
                  <a16:creationId xmlns:a16="http://schemas.microsoft.com/office/drawing/2014/main" id="{CBB5101A-137C-E72D-0299-FD15CFE57517}"/>
                </a:ext>
              </a:extLst>
            </p:cNvPr>
            <p:cNvSpPr/>
            <p:nvPr/>
          </p:nvSpPr>
          <p:spPr>
            <a:xfrm>
              <a:off x="514351" y="4402836"/>
              <a:ext cx="1100513" cy="233172"/>
            </a:xfrm>
            <a:prstGeom prst="rect">
              <a:avLst/>
            </a:prstGeom>
            <a:solidFill>
              <a:srgbClr val="F8F9FC"/>
            </a:solidFill>
            <a:ln w="10160">
              <a:solidFill>
                <a:srgbClr val="0E7C7B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406" name="Text 105">
              <a:extLst>
                <a:ext uri="{FF2B5EF4-FFF2-40B4-BE49-F238E27FC236}">
                  <a16:creationId xmlns:a16="http://schemas.microsoft.com/office/drawing/2014/main" id="{B408A093-E62E-3E55-CAA8-6CA4A9678633}"/>
                </a:ext>
              </a:extLst>
            </p:cNvPr>
            <p:cNvSpPr/>
            <p:nvPr/>
          </p:nvSpPr>
          <p:spPr>
            <a:xfrm>
              <a:off x="514351" y="4402836"/>
              <a:ext cx="1100513" cy="2331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38" b="1">
                  <a:solidFill>
                    <a:srgbClr val="0E7C7B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Cucumber HTML</a:t>
              </a:r>
              <a:endParaRPr lang="en-US" sz="638"/>
            </a:p>
          </p:txBody>
        </p:sp>
        <p:sp>
          <p:nvSpPr>
            <p:cNvPr id="1407" name="Shape 106">
              <a:extLst>
                <a:ext uri="{FF2B5EF4-FFF2-40B4-BE49-F238E27FC236}">
                  <a16:creationId xmlns:a16="http://schemas.microsoft.com/office/drawing/2014/main" id="{3A3B4ED9-F4E5-12AE-D95E-F364E57A5066}"/>
                </a:ext>
              </a:extLst>
            </p:cNvPr>
            <p:cNvSpPr/>
            <p:nvPr/>
          </p:nvSpPr>
          <p:spPr>
            <a:xfrm>
              <a:off x="1683444" y="4402836"/>
              <a:ext cx="1100513" cy="233172"/>
            </a:xfrm>
            <a:prstGeom prst="rect">
              <a:avLst/>
            </a:prstGeom>
            <a:solidFill>
              <a:srgbClr val="F8F9FC"/>
            </a:solidFill>
            <a:ln w="10160">
              <a:solidFill>
                <a:srgbClr val="002D72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92" name="Text 107">
              <a:extLst>
                <a:ext uri="{FF2B5EF4-FFF2-40B4-BE49-F238E27FC236}">
                  <a16:creationId xmlns:a16="http://schemas.microsoft.com/office/drawing/2014/main" id="{B0FC88DF-DCFD-F62D-2A9F-5BD8F3F2C192}"/>
                </a:ext>
              </a:extLst>
            </p:cNvPr>
            <p:cNvSpPr/>
            <p:nvPr/>
          </p:nvSpPr>
          <p:spPr>
            <a:xfrm>
              <a:off x="1683444" y="4402836"/>
              <a:ext cx="1100513" cy="2331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38" b="1">
                  <a:solidFill>
                    <a:srgbClr val="002D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Playwright HTML</a:t>
              </a:r>
              <a:endParaRPr lang="en-US" sz="638"/>
            </a:p>
          </p:txBody>
        </p:sp>
        <p:sp>
          <p:nvSpPr>
            <p:cNvPr id="193" name="Shape 108">
              <a:extLst>
                <a:ext uri="{FF2B5EF4-FFF2-40B4-BE49-F238E27FC236}">
                  <a16:creationId xmlns:a16="http://schemas.microsoft.com/office/drawing/2014/main" id="{C6C2AB95-6064-0583-2221-878D2E751FC6}"/>
                </a:ext>
              </a:extLst>
            </p:cNvPr>
            <p:cNvSpPr/>
            <p:nvPr/>
          </p:nvSpPr>
          <p:spPr>
            <a:xfrm>
              <a:off x="2852536" y="4402836"/>
              <a:ext cx="1100513" cy="233172"/>
            </a:xfrm>
            <a:prstGeom prst="rect">
              <a:avLst/>
            </a:prstGeom>
            <a:solidFill>
              <a:srgbClr val="F8F9FC"/>
            </a:solidFill>
            <a:ln w="10160">
              <a:solidFill>
                <a:srgbClr val="002D72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94" name="Text 109">
              <a:extLst>
                <a:ext uri="{FF2B5EF4-FFF2-40B4-BE49-F238E27FC236}">
                  <a16:creationId xmlns:a16="http://schemas.microsoft.com/office/drawing/2014/main" id="{C44EF927-02C7-03EE-5181-4BD111A7098A}"/>
                </a:ext>
              </a:extLst>
            </p:cNvPr>
            <p:cNvSpPr/>
            <p:nvPr/>
          </p:nvSpPr>
          <p:spPr>
            <a:xfrm>
              <a:off x="2852536" y="4402836"/>
              <a:ext cx="1100513" cy="2331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38" b="1">
                  <a:solidFill>
                    <a:srgbClr val="002D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trace.zip</a:t>
              </a:r>
              <a:endParaRPr lang="en-US" sz="638"/>
            </a:p>
          </p:txBody>
        </p:sp>
        <p:sp>
          <p:nvSpPr>
            <p:cNvPr id="195" name="Shape 110">
              <a:extLst>
                <a:ext uri="{FF2B5EF4-FFF2-40B4-BE49-F238E27FC236}">
                  <a16:creationId xmlns:a16="http://schemas.microsoft.com/office/drawing/2014/main" id="{EA043DDA-8082-0546-BE05-22E56694371D}"/>
                </a:ext>
              </a:extLst>
            </p:cNvPr>
            <p:cNvSpPr/>
            <p:nvPr/>
          </p:nvSpPr>
          <p:spPr>
            <a:xfrm>
              <a:off x="4021630" y="4402836"/>
              <a:ext cx="1100513" cy="233172"/>
            </a:xfrm>
            <a:prstGeom prst="rect">
              <a:avLst/>
            </a:prstGeom>
            <a:solidFill>
              <a:srgbClr val="F8F9FC"/>
            </a:solidFill>
            <a:ln w="10160">
              <a:solidFill>
                <a:srgbClr val="C99A06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96" name="Text 111">
              <a:extLst>
                <a:ext uri="{FF2B5EF4-FFF2-40B4-BE49-F238E27FC236}">
                  <a16:creationId xmlns:a16="http://schemas.microsoft.com/office/drawing/2014/main" id="{0C3E9B9F-B97C-7443-99EF-1814BD1D3089}"/>
                </a:ext>
              </a:extLst>
            </p:cNvPr>
            <p:cNvSpPr/>
            <p:nvPr/>
          </p:nvSpPr>
          <p:spPr>
            <a:xfrm>
              <a:off x="4021630" y="4402836"/>
              <a:ext cx="1100513" cy="2331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38" b="1">
                  <a:solidFill>
                    <a:srgbClr val="C99A0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healing-report</a:t>
              </a:r>
              <a:endParaRPr lang="en-US" sz="638"/>
            </a:p>
          </p:txBody>
        </p:sp>
        <p:sp>
          <p:nvSpPr>
            <p:cNvPr id="197" name="Shape 112">
              <a:extLst>
                <a:ext uri="{FF2B5EF4-FFF2-40B4-BE49-F238E27FC236}">
                  <a16:creationId xmlns:a16="http://schemas.microsoft.com/office/drawing/2014/main" id="{A87A830B-811D-61CB-A42B-DB57E85F6A24}"/>
                </a:ext>
              </a:extLst>
            </p:cNvPr>
            <p:cNvSpPr/>
            <p:nvPr/>
          </p:nvSpPr>
          <p:spPr>
            <a:xfrm>
              <a:off x="5190723" y="4402836"/>
              <a:ext cx="1100513" cy="233172"/>
            </a:xfrm>
            <a:prstGeom prst="rect">
              <a:avLst/>
            </a:prstGeom>
            <a:solidFill>
              <a:srgbClr val="F8F9FC"/>
            </a:solidFill>
            <a:ln w="10160">
              <a:solidFill>
                <a:srgbClr val="002D72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198" name="Text 113">
              <a:extLst>
                <a:ext uri="{FF2B5EF4-FFF2-40B4-BE49-F238E27FC236}">
                  <a16:creationId xmlns:a16="http://schemas.microsoft.com/office/drawing/2014/main" id="{5441F999-C698-07AE-34F9-DC6AF1654B4E}"/>
                </a:ext>
              </a:extLst>
            </p:cNvPr>
            <p:cNvSpPr/>
            <p:nvPr/>
          </p:nvSpPr>
          <p:spPr>
            <a:xfrm>
              <a:off x="5190723" y="4402836"/>
              <a:ext cx="1100513" cy="2331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38" b="1">
                  <a:solidFill>
                    <a:srgbClr val="002D7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metrics.json</a:t>
              </a:r>
              <a:endParaRPr lang="en-US" sz="638"/>
            </a:p>
          </p:txBody>
        </p:sp>
        <p:sp>
          <p:nvSpPr>
            <p:cNvPr id="199" name="Shape 114">
              <a:extLst>
                <a:ext uri="{FF2B5EF4-FFF2-40B4-BE49-F238E27FC236}">
                  <a16:creationId xmlns:a16="http://schemas.microsoft.com/office/drawing/2014/main" id="{2D0235E4-4ACB-C79E-983A-90FA759AACAB}"/>
                </a:ext>
              </a:extLst>
            </p:cNvPr>
            <p:cNvSpPr/>
            <p:nvPr/>
          </p:nvSpPr>
          <p:spPr>
            <a:xfrm>
              <a:off x="6359816" y="4402836"/>
              <a:ext cx="1100513" cy="233172"/>
            </a:xfrm>
            <a:prstGeom prst="rect">
              <a:avLst/>
            </a:prstGeom>
            <a:solidFill>
              <a:srgbClr val="F8F9FC"/>
            </a:solidFill>
            <a:ln w="10160">
              <a:solidFill>
                <a:srgbClr val="1A1F36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00" name="Text 115">
              <a:extLst>
                <a:ext uri="{FF2B5EF4-FFF2-40B4-BE49-F238E27FC236}">
                  <a16:creationId xmlns:a16="http://schemas.microsoft.com/office/drawing/2014/main" id="{23AE22A9-E208-886A-B865-E139CE63805B}"/>
                </a:ext>
              </a:extLst>
            </p:cNvPr>
            <p:cNvSpPr/>
            <p:nvPr/>
          </p:nvSpPr>
          <p:spPr>
            <a:xfrm>
              <a:off x="6359816" y="4402836"/>
              <a:ext cx="1100513" cy="2331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38" b="1" dirty="0">
                  <a:solidFill>
                    <a:srgbClr val="1A1F36"/>
                  </a:solidFill>
                  <a:latin typeface="Arial" pitchFamily="34" charset="0"/>
                  <a:cs typeface="Arial" pitchFamily="34" charset="-120"/>
                </a:rPr>
                <a:t>Report Dashboard</a:t>
              </a:r>
              <a:endParaRPr lang="en-US" sz="638" dirty="0"/>
            </a:p>
          </p:txBody>
        </p:sp>
        <p:sp>
          <p:nvSpPr>
            <p:cNvPr id="201" name="Shape 116">
              <a:extLst>
                <a:ext uri="{FF2B5EF4-FFF2-40B4-BE49-F238E27FC236}">
                  <a16:creationId xmlns:a16="http://schemas.microsoft.com/office/drawing/2014/main" id="{A81A5A6D-F1D7-98A5-808D-F572DDBBE3E4}"/>
                </a:ext>
              </a:extLst>
            </p:cNvPr>
            <p:cNvSpPr/>
            <p:nvPr/>
          </p:nvSpPr>
          <p:spPr>
            <a:xfrm>
              <a:off x="7528909" y="4402836"/>
              <a:ext cx="1100513" cy="233172"/>
            </a:xfrm>
            <a:prstGeom prst="rect">
              <a:avLst/>
            </a:prstGeom>
            <a:solidFill>
              <a:srgbClr val="F8F9FC"/>
            </a:solidFill>
            <a:ln w="10160">
              <a:solidFill>
                <a:srgbClr val="1A1F36"/>
              </a:solidFill>
              <a:prstDash val="solid"/>
            </a:ln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02" name="Text 117">
              <a:extLst>
                <a:ext uri="{FF2B5EF4-FFF2-40B4-BE49-F238E27FC236}">
                  <a16:creationId xmlns:a16="http://schemas.microsoft.com/office/drawing/2014/main" id="{FF9B6C9C-C752-96E0-B3D1-545DFF3A8554}"/>
                </a:ext>
              </a:extLst>
            </p:cNvPr>
            <p:cNvSpPr/>
            <p:nvPr/>
          </p:nvSpPr>
          <p:spPr>
            <a:xfrm>
              <a:off x="7528909" y="4402836"/>
              <a:ext cx="1100513" cy="2331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638" b="1" dirty="0">
                  <a:solidFill>
                    <a:srgbClr val="1A1F36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JIRA / Xray</a:t>
              </a:r>
              <a:endParaRPr lang="en-US" sz="638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3F59BAE-612C-B90E-2051-C3D6D2A2704A}"/>
              </a:ext>
            </a:extLst>
          </p:cNvPr>
          <p:cNvSpPr txBox="1"/>
          <p:nvPr/>
        </p:nvSpPr>
        <p:spPr>
          <a:xfrm>
            <a:off x="457199" y="6400800"/>
            <a:ext cx="1147713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i="1">
                <a:solidFill>
                  <a:srgbClr val="6C757D"/>
                </a:solidFill>
              </a:defRPr>
            </a:pPr>
            <a:r>
              <a:rPr sz="1400" dirty="0"/>
              <a:t>| Ready for Enterprise Deployment | High ROI &amp; Scalability </a:t>
            </a:r>
            <a:r>
              <a:rPr lang="en-US" sz="1400" dirty="0"/>
              <a:t>| Full Production | Team Training | </a:t>
            </a:r>
            <a:r>
              <a:rPr lang="en-US" sz="1400"/>
              <a:t>Process Adoption </a:t>
            </a:r>
            <a:r>
              <a:rPr lang="en-US" sz="1400" dirty="0"/>
              <a:t>|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1904547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</TotalTime>
  <Words>372</Words>
  <Application>Microsoft Office PowerPoint</Application>
  <PresentationFormat>Widescreen</PresentationFormat>
  <Paragraphs>87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Aptos</vt:lpstr>
      <vt:lpstr>Aptos Display</vt:lpstr>
      <vt:lpstr>Arial</vt:lpstr>
      <vt:lpstr>Consolas</vt:lpstr>
      <vt:lpstr>Open Sans</vt:lpstr>
      <vt:lpstr>Sitka Subheading</vt:lpstr>
      <vt:lpstr>Times New Roman</vt:lpstr>
      <vt:lpstr>Office Theme</vt:lpstr>
      <vt:lpstr>Enterprise Test Automation Framework (Web, API, ETL, Database…)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Pawan Dwivedi</dc:creator>
  <cp:lastModifiedBy>Pawan Dwivedi</cp:lastModifiedBy>
  <cp:revision>4</cp:revision>
  <dcterms:created xsi:type="dcterms:W3CDTF">2026-08-11T02:36:58Z</dcterms:created>
  <dcterms:modified xsi:type="dcterms:W3CDTF">2026-08-12T06:00:16Z</dcterms:modified>
</cp:coreProperties>
</file>